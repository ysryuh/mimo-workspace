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BCD4"/>
                </a:solidFill>
                <a:latin typeface="맑은 고딕"/>
              </a:defRPr>
            </a:pPr>
            <a:r>
              <a:t>글로벌우수기업연구소 육성사업 (GATC)  |  연구개발계획서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HMC-SKID 기반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모듈형 컨테이너 솔루션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AADD"/>
                </a:solidFill>
                <a:latin typeface="맑은 고딕"/>
              </a:defRPr>
            </a:pPr>
            <a:r>
              <a:t>Development of HMC SKID-based Modular Containerized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572000"/>
            <a:ext cx="9144000" cy="18288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99BBDD"/>
                </a:solidFill>
                <a:latin typeface="맑은 고딕"/>
              </a:defRPr>
            </a:pPr>
            <a:r>
              <a:t>주관: ㈜에이스엔지니어링  |  연구책임: 주재흥 이사</a:t>
            </a:r>
          </a:p>
          <a:p>
            <a:pPr>
              <a:spcAft>
                <a:spcPts val="300"/>
              </a:spcAft>
              <a:defRPr sz="1400">
                <a:solidFill>
                  <a:srgbClr val="99BBDD"/>
                </a:solidFill>
                <a:latin typeface="맑은 고딕"/>
              </a:defRPr>
            </a:pPr>
            <a:r>
              <a:t>사업기간: 2026 ~ 2028 (3개년)  |  총 R&amp;D 투자: 45.1억원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594360" cy="50292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D3A"/>
                </a:solidFill>
                <a:latin typeface="맑은 고딕"/>
              </a:defRPr>
            </a:pPr>
            <a:r>
              <a:t>현장 문제점 &amp; 기술개발 필요성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맑은 고딕"/>
              </a:defRPr>
            </a:pPr>
            <a:r>
              <a:t>시장이 직면한 기술적 격차와 HMC-SKID의 해결 방향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320040"/>
            <a:ext cx="228600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338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BFF"/>
                </a:solidFill>
                <a:latin typeface="맑은 고딕"/>
              </a:defRPr>
            </a:pPr>
            <a:r>
              <a:t>A. 기술개발의 적정성 (20점)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27632"/>
            <a:ext cx="54864" cy="3200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복잡한 현장 작업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Containerized ESS의 복잡한 현장 배관·전기 작업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설치 기간 장기화 (평균 2~3개월 소요)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높은 현장 노무비 발생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27632"/>
            <a:ext cx="54864" cy="3200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품질 편차 위험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현장 작업자 숙련도에 따른 품질 불일치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재작업률 증가 → 비용·일정 초과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안전 사고 위험 상존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54480"/>
            <a:ext cx="35661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627632"/>
            <a:ext cx="54864" cy="3200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표준화 부재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0116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대규모 ESS 배포용 표준 사전제작 SKID 플랫폼 없음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프로젝트마다 개별 현장 엔지니어링 필요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시장에 Plug-and-Play 솔루션 부재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11247120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맑은 고딕"/>
              </a:defRPr>
            </a:pPr>
            <a:r>
              <a:t>해결책: HMC-SKID (Hybrid Modular Connector - SKID) 기술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맑은 고딕"/>
              </a:defRPr>
            </a:pPr>
            <a:r>
              <a:t>Plug-and-Play 방식 배포 → 현장 연결 작업 획기적 제거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맑은 고딕"/>
              </a:defRPr>
            </a:pPr>
            <a:r>
              <a:t>사전제작형 표준화 SKID 플랫폼 → 설치 기간 30% 단축 (60일 → 42일)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맑은 고딕"/>
              </a:defRPr>
            </a:pPr>
            <a:r>
              <a:t>품질 표준화로 현장 결함 억제 (40% 개선) + 노무비 25~35% 절감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맑은 고딕"/>
              </a:defRPr>
            </a:pPr>
            <a:r>
              <a:t>글로벌 ESS 시장 CAGR 60%+ 초고성장 시장 대응 필수 기술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맑은 고딕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594360" cy="50292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D3A"/>
                </a:solidFill>
                <a:latin typeface="맑은 고딕"/>
              </a:defRPr>
            </a:pPr>
            <a:r>
              <a:t>핵심기술 &amp; 개발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맑은 고딕"/>
              </a:defRPr>
            </a:pPr>
            <a:r>
              <a:t>3대 핵심 기술 영역 및 연구 목표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320040"/>
            <a:ext cx="228600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338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BFF"/>
                </a:solidFill>
                <a:latin typeface="맑은 고딕"/>
              </a:defRPr>
            </a:pPr>
            <a:r>
              <a:t>A. 연구개발내용의 구체성 (15점)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5661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27632"/>
            <a:ext cx="54864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HMC-SKID 모듈형 솔루션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자동 정렬 보정 기능 포함 자동화 기계 결합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누수 제로 연결 메커니즘 &amp; 고신뢰성 조립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정밀 정렬 제어 시스템 구축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HV 자동 커넥터 1,000회+ 사이클 테스트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5661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27632"/>
            <a:ext cx="54864" cy="3200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Grid-Forming 인버터 기술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동기발전기 유사 그리드 지원 기능 (GFM)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동기발전기 특성 에뮬레이션 핵심 알고리즘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전압→주파수→전력흐름 단계별 제어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MATLAB 모델링 → H/W-in-the-Loop 테스트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54480"/>
            <a:ext cx="35661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627632"/>
            <a:ext cx="54864" cy="3200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AI 데이터센터 응용 시제품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0116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열 프로필 기반 열/구조 설계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GFM 기능 통합 명세 확립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유럽형 (2차년도) + 미국형 (3차년도) 시제품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대규모 재생에너지·데이터센터 타겟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72000"/>
            <a:ext cx="1124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645152"/>
            <a:ext cx="54864" cy="3200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17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연도별 기대 결과물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292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1차년도 (2026): GFM 인버터 기초 설계 완료 + HMC 프로토타입 메커니즘 검증 → 2차년도 HW 구현 기반 마련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2차년도 (2027): HMC-SKID 시스템 제작·성능검증 + GFM 알고리즘 정정 + 유럽형 사양 컨테이너 시제품 제작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3차년도 (2028): GFM 인버터 통합 HMC-SKID 모듈형 Containerized Solution 완성 → 글로벌 배포 기술 준비 완료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맑은 고딕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594360" cy="50292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D3A"/>
                </a:solidFill>
                <a:latin typeface="맑은 고딕"/>
              </a:defRPr>
            </a:pPr>
            <a:r>
              <a:t>개발 전략 &amp; 위험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맑은 고딕"/>
              </a:defRPr>
            </a:pPr>
            <a:r>
              <a:t>통합 개발 접근법: 설계→시제품→검증→최적화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320040"/>
            <a:ext cx="228600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338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BFF"/>
                </a:solidFill>
                <a:latin typeface="맑은 고딕"/>
              </a:defRPr>
            </a:pPr>
            <a:r>
              <a:t>C. 연구개발 수행 전략 및 방법 (10점)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27632"/>
            <a:ext cx="54864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HMC-SKID 개발 경로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① 설계 최적화 → ② 시제품 제작 → ③ 성능 평가 → ④ 반복 개선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위험 완화: 1,000회 이상 자동 정렬 메커니즘 신뢰성 테스트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모듈형 표준화 설계 적용으로 재현성·확장성 확보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협력: EPC Power 및 연구기관과 정기 통합 기술 미팅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627632"/>
            <a:ext cx="54864" cy="3200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Grid-Forming 개발 경로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① 알고리즘 설계 → ② MATLAB 모델링 → ③ H/W-in-the-Loop 테스트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전압 제어 → 주파수 제어 → 전력흐름 제어 단계별 검증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상용화 전 MATLAB 시뮬레이션으로 안정성 확보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제한적 현장 테스트를 통한 최종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187952"/>
            <a:ext cx="54864" cy="3200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기술적 위험 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72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HV 자동 커넥터 신뢰성: 중복 안전 메커니즘 설계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GFM 제어 안정성: 시뮬레이션 + HIL 테스트 + 현장 실험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국제 인증: UL·CE 인증기관과 조기 협력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1480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187952"/>
            <a:ext cx="54864" cy="3200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자원·일정 위험 완화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572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핵심 인력: 백업 리더 교차 교육 &amp; 지식 공유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공급망: 핵심 부품 다원 공급처 + 전략적 재고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일정: 마일스톤 대비 월간 검토 + 분기별 위험 재평가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맑은 고딕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594360" cy="50292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D3A"/>
                </a:solidFill>
                <a:latin typeface="맑은 고딕"/>
              </a:defRPr>
            </a:pPr>
            <a:r>
              <a:t>실행 일정 (Execution Schedule)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맑은 고딕"/>
              </a:defRPr>
            </a:pPr>
            <a:r>
              <a:t>명확한 마일스톤 기반 구조화된 개발 일정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320040"/>
            <a:ext cx="228600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338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BFF"/>
                </a:solidFill>
                <a:latin typeface="맑은 고딕"/>
              </a:defRPr>
            </a:pPr>
            <a:r>
              <a:t>C. 추진일정의 구체성 (5점)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5661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27632"/>
            <a:ext cx="54864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1차년도 (2026)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Q2: HMC-SKID 설계 + GFM 알고리즘 기초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Q3: 시제품 착수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Q4: 첫 성능 평가 + 설계 반복 개선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★ Gate Review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5661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27632"/>
            <a:ext cx="54864" cy="3200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2차년도 (2027)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Q1~Q2: 전체 서브시스템 기능·안전성 테스트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Q3: 유럽형 사양 컨테이너 시제품 제작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Q4: 통합 시스템 테스트·검증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★ EU 시제품 완성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54480"/>
            <a:ext cx="35661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627632"/>
            <a:ext cx="54864" cy="3200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3차년도 (2028)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0116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Q1~Q2: 미국형 사양 시제품 완성·통합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Q3: 공장 인수 테스트 (FAT)·시스템 검증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Q4: 최종 결과물 + 기술이전 착수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★ 상용화 준비 완료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10698480" cy="1097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3474720" cy="109728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4754880"/>
            <a:ext cx="3566160" cy="10972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4754880"/>
            <a:ext cx="3657600" cy="109728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663440"/>
            <a:ext cx="109728" cy="2743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83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  <a:latin typeface="맑은 고딕"/>
              </a:defRPr>
            </a:pPr>
            <a:r>
              <a:t>설계+기초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4663440"/>
            <a:ext cx="109728" cy="2743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4983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  <a:latin typeface="맑은 고딕"/>
              </a:defRPr>
            </a:pPr>
            <a:r>
              <a:t>시제품착수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4663440"/>
            <a:ext cx="109728" cy="274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4983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  <a:latin typeface="맑은 고딕"/>
              </a:defRPr>
            </a:pPr>
            <a:r>
              <a:t>서브시스템테스트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663440"/>
            <a:ext cx="109728" cy="274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0" y="4983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  <a:latin typeface="맑은 고딕"/>
              </a:defRPr>
            </a:pPr>
            <a:r>
              <a:t>EU시제품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4663440"/>
            <a:ext cx="109728" cy="27432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0" y="4983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  <a:latin typeface="맑은 고딕"/>
              </a:defRPr>
            </a:pPr>
            <a:r>
              <a:t>미국시제품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4663440"/>
            <a:ext cx="109728" cy="27432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4983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6B6B"/>
                </a:solidFill>
                <a:latin typeface="맑은 고딕"/>
              </a:defRPr>
            </a:pPr>
            <a:r>
              <a:t>FAT+기술이전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94960"/>
            <a:ext cx="112471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5468112"/>
            <a:ext cx="54864" cy="3200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440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핵심 마일스톤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52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Gate Review 1 (2026 Q4) → EU 시제품 완성 (2027 Q4) → FAT 통과 (2028 Q3) → 기술이전 착수 (2028 Q4) → 상용화 (2029+)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맑은 고딕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594360" cy="50292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D3A"/>
                </a:solidFill>
                <a:latin typeface="맑은 고딕"/>
              </a:defRPr>
            </a:pPr>
            <a:r>
              <a:t>연구팀 구성 &amp; 수행 능력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맑은 고딕"/>
              </a:defRPr>
            </a:pPr>
            <a:r>
              <a:t>글로벌 사업화 경험 보유 전문가 조직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320040"/>
            <a:ext cx="228600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338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BFF"/>
                </a:solidFill>
                <a:latin typeface="맑은 고딕"/>
              </a:defRPr>
            </a:pPr>
            <a:r>
              <a:t>B. 연구인력의 전문성 (15점)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12471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73152" cy="1188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3A"/>
                </a:solidFill>
                <a:latin typeface="맑은 고딕"/>
              </a:defRPr>
            </a:pPr>
            <a:r>
              <a:t>책임연구자: 주재흥 이사 (주관연구개발기관)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6B6B6B"/>
                </a:solidFill>
                <a:latin typeface="맑은 고딕"/>
              </a:defRPr>
            </a:pPr>
            <a:r>
              <a:t>ESS 시스템 20년 이상 경력의 컨테이너 기술 전문가 | 구조설계 총괄 17년 경력 | 프로젝트 기술적 방향 설정 및 국제 협력 총괄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365760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090672"/>
            <a:ext cx="54864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핵심 연구팀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747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중앙기술연구소: 전체 23명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연구인력: 9명 (석사 2, 학사 7)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평균연구경력: 10년 이상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조용래 차장 — 전기설계 (26년)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양수석 차장 — 전기설계 (26년)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장희수 차장 — 전기설계 (14년)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마상진 과장 — 구조설계 (13년)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• 성동근 과장 — Materials Science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(석사, 독일 Bochum)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017520"/>
            <a:ext cx="365760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80" y="3090672"/>
            <a:ext cx="54864" cy="3200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공동연구기관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4747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EPC Power — GFM 인버터 공동개발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R&amp;D 자문·시험평가: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한국전기연구원 (KERI)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한국생산기술연구원 (KITECH)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산학협력: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서울대학교 — GFM 핵심기술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성균관대학교 — 전력시스템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동아대학교 — 인재육성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017520"/>
            <a:ext cx="338328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58200" y="3090672"/>
            <a:ext cx="54864" cy="3200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3063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지원체계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47472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지식재산 전담: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이호용 상무 (전략TF장)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前 한화큐셀 특허전략 경험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파이특허법률사무소 (10년+)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인증 지원: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UL·CE 조기 협력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ISO 9001/14001/45001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Fluence — 글로벌 실증·사업화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맑은 고딕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594360" cy="50292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D3A"/>
                </a:solidFill>
                <a:latin typeface="맑은 고딕"/>
              </a:defRPr>
            </a:pPr>
            <a:r>
              <a:t>연구시설 &amp; 인프라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맑은 고딕"/>
              </a:defRPr>
            </a:pPr>
            <a:r>
              <a:t>최첨단 개발 인프라 보유 및 확장 계획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320040"/>
            <a:ext cx="228600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338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BFF"/>
                </a:solidFill>
                <a:latin typeface="맑은 고딕"/>
              </a:defRPr>
            </a:pPr>
            <a:r>
              <a:t>B. 연구시설 및 장비 보유현황 (10점)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5661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27632"/>
            <a:ext cx="54864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기존 연구시설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CSC 테스트 시설: 16.2m × 5.9m × 5.6m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종합 구조·하중 테스트 가능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기계 설계 워크스테이션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ANSYS, CATIA, MIDAS NFX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전기 테스트 랩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고전압·전력전자 성능 검증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열 관리 테스트 챔버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-30°C ~ +70°C 극한 환경 테스트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5661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27632"/>
            <a:ext cx="54864" cy="3200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계획된 투자 (2027)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1168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총 약 30억원 규모 신규 인프라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배터리 충방전기 (1000V/300A)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배터리팩 챔버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신속 진단기 (SOH/SOC/SOP)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배터리팩 검사시스템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자동 적재 시스템 (연 100EA)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배터리팩 칠러 (-30~70°C)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54480"/>
            <a:ext cx="356616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627632"/>
            <a:ext cx="54864" cy="3200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협력 접근 시설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01168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KERI: 그리드 표준 준수 테스트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KITECH: 제조 공정 최적화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SNU/SKKU: 고급 시뮬레이션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자동 로딩 시스템 (10억원)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신속한 시제품 테스트 사이클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협력기관 보유 장비 활용으로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자체 투자 대비 효율적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맑은 고딕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594360" cy="50292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D3A"/>
                </a:solidFill>
                <a:latin typeface="맑은 고딕"/>
              </a:defRPr>
            </a:pPr>
            <a:r>
              <a:t>시장 기회 &amp; 경쟁 우위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맑은 고딕"/>
              </a:defRPr>
            </a:pPr>
            <a:r>
              <a:t>글로벌 ESS 초고성장 시장에서의 차별화 포지셔닝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320040"/>
            <a:ext cx="228600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338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BFF"/>
                </a:solidFill>
                <a:latin typeface="맑은 고딕"/>
              </a:defRPr>
            </a:pPr>
            <a:r>
              <a:t>A. 성과활용 및 사업화 가능성 (15점)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27632"/>
            <a:ext cx="54864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시장 규모 &amp; 성장성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글로벌 ESS 시장: CAGR 60% 이상 초고성장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AI Data Center 성장: CAGR 30%+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2024년 글로벌 ESS 시장 → 2030년 50B+ USD 전망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핵심: 설치 시간 단축·노무비 절감·품질 개선이 시장 요구사항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627632"/>
            <a:ext cx="54864" cy="3200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경쟁 우위 (HMC 기술 독특성)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현장 연결 제거 유일한 사전제작형 SKID 솔루션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Grid-Forming 고급 제어 기술로 그리드 안정성 강화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설계→배포 수직 통합으로 운영 효율·품질 극대화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배포 속도 혁신 → 시장 선도 가능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187952"/>
            <a:ext cx="54864" cy="3200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비용-편익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72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설치 시간: 30% 단축 (60일 → 42일)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노무비: 25~35% 감소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품질 개선: 현장 결함 40% 감소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총소유비용(TCO): 15~20% 절감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1480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187952"/>
            <a:ext cx="54864" cy="3200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타겟 시장 &amp; 진출 계획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572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2027: 유럽 시장 진출 (Hitachi 유럽 협력)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2027: 북미 상용 출시 (EPC Power 채널)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2028: APAC 시장 확대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대상: 대규모 재생에너지·AI 데이터센터·그리드 현대화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맑은 고딕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594360" cy="50292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D3A"/>
                </a:solidFill>
                <a:latin typeface="맑은 고딕"/>
              </a:defRPr>
            </a:pPr>
            <a:r>
              <a:t>투자 요약 &amp; 수익 전망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맑은 고딕"/>
              </a:defRPr>
            </a:pPr>
            <a:r>
              <a:t>보수적 가정 기반 명확한 수익 실현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320040"/>
            <a:ext cx="228600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338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BFF"/>
                </a:solidFill>
                <a:latin typeface="맑은 고딕"/>
              </a:defRPr>
            </a:pPr>
            <a:r>
              <a:t>A. 성과활용 및 사업화 가능성 (15점)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27632"/>
            <a:ext cx="54864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투자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총 R&amp;D 투자: 45.1억원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정부 지원금: 33억원 (73%)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ACE Engineering: 12.1억원 (27%)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2027년 신규 연구장비 구축: 약 30억원 별도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627632"/>
            <a:ext cx="54864" cy="3200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예상 수익 (Revenue Impact)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5년 누적 수익: 600~1,000억원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10년 NPV: 1,500억원+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직접 일자리 창출: 50~100명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공급망 파급효과: 200억원+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2028년: 10~15 unit 판매 목표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2029~2030년: 50~80 unit 판매 목표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4297680"/>
            <a:ext cx="1828800" cy="40233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항목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4297680"/>
            <a:ext cx="1463040" cy="40233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4343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4297680"/>
            <a:ext cx="1463040" cy="40233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343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2027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4297680"/>
            <a:ext cx="1463040" cy="40233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343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2028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297680"/>
            <a:ext cx="1463040" cy="40233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343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2029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4297680"/>
            <a:ext cx="1463040" cy="402336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4343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2030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736592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4782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맑은 고딕"/>
              </a:defRPr>
            </a:pPr>
            <a:r>
              <a:t>판매(unit)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4736592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47823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4736592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47823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초기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736592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7823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10~15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4736592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47823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50~80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4736592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47823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80+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0" y="5175504"/>
            <a:ext cx="1828800" cy="402336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4480" y="52212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맑은 고딕"/>
              </a:defRPr>
            </a:pPr>
            <a:r>
              <a:t>매출(억원)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0" y="5175504"/>
            <a:ext cx="1463040" cy="402336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0" y="52212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0" y="5175504"/>
            <a:ext cx="1463040" cy="402336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52212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PoC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5175504"/>
            <a:ext cx="1463040" cy="402336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52212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50~100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5175504"/>
            <a:ext cx="1463040" cy="402336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52212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300~500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35440" y="5175504"/>
            <a:ext cx="1463040" cy="402336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440" y="52212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500+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54480" y="5614416"/>
            <a:ext cx="18288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54480" y="56601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맑은 고딕"/>
              </a:defRPr>
            </a:pPr>
            <a:r>
              <a:t>특허(건)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83280" y="5614416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83280" y="56601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46320" y="5614416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46320" y="56601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5614416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56601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5614416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0" y="56601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35440" y="5614416"/>
            <a:ext cx="146304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35440" y="56601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554480" y="6053328"/>
            <a:ext cx="1828800" cy="402336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554480" y="6099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2D2D"/>
                </a:solidFill>
                <a:latin typeface="맑은 고딕"/>
              </a:defRPr>
            </a:pPr>
            <a:r>
              <a:t>연구인력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83280" y="6053328"/>
            <a:ext cx="1463040" cy="402336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83280" y="6099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46320" y="6053328"/>
            <a:ext cx="1463040" cy="402336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46320" y="6099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6053328"/>
            <a:ext cx="1463040" cy="402336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60" y="6099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18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2400" y="6053328"/>
            <a:ext cx="1463040" cy="402336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72400" y="6099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21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35440" y="6053328"/>
            <a:ext cx="1463040" cy="402336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35440" y="6099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맑은 고딕"/>
              </a:defRPr>
            </a:pPr>
            <a:r>
              <a:t>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맑은 고딕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594360" cy="50292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D3A"/>
                </a:solidFill>
                <a:latin typeface="맑은 고딕"/>
              </a:defRPr>
            </a:pPr>
            <a:r>
              <a:t>기술전환 &amp; 사업화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맑은 고딕"/>
              </a:defRPr>
            </a:pPr>
            <a:r>
              <a:t>Post Project — 시장 진입 가속화 단계별 전략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320040"/>
            <a:ext cx="228600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3383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7BFF"/>
                </a:solidFill>
                <a:latin typeface="맑은 고딕"/>
              </a:defRPr>
            </a:pPr>
            <a:r>
              <a:t>D. 성과활용·사업화 계획 (10점)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657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627632"/>
            <a:ext cx="54864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기술 전환 로드맵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① 개념증명 (PoC)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 HMC-SKID + GFM 알고리즘 검증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② 기술 실증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 최종사용자 평가용 동작 시제품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③ 상용화 준비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 대량 생산 준비 완료 시스템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24688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627632"/>
            <a:ext cx="54864" cy="3200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1단계: 기반·검증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011680"/>
            <a:ext cx="2103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맑은 고딕"/>
              </a:defRPr>
            </a:pPr>
            <a:r>
              <a:t>• EPC Power 고객 2~3개 프로젝트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맑은 고딕"/>
              </a:defRPr>
            </a:pPr>
            <a:r>
              <a:t>• UL 9540, IEC 62619 인증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맑은 고딕"/>
              </a:defRPr>
            </a:pPr>
            <a:r>
              <a:t>• 기술 문서·교육 프로그램 개발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554480"/>
            <a:ext cx="24688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8040" y="1627632"/>
            <a:ext cx="54864" cy="32004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2단계: 확장·파트너십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011680"/>
            <a:ext cx="2103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맑은 고딕"/>
              </a:defRPr>
            </a:pPr>
            <a:r>
              <a:t>• 유럽 SI 유통망 구축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맑은 고딕"/>
              </a:defRPr>
            </a:pPr>
            <a:r>
              <a:t>• 북미 상용 출시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맑은 고딕"/>
              </a:defRPr>
            </a:pPr>
            <a:r>
              <a:t>• APAC 시장 개발 착수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554480"/>
            <a:ext cx="246888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29800" y="1627632"/>
            <a:ext cx="54864" cy="3200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1600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3단계: 스케일·생태계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011680"/>
            <a:ext cx="2103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맑은 고딕"/>
              </a:defRPr>
            </a:pPr>
            <a:r>
              <a:t>• 연 50건+ 판매 달성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맑은 고딕"/>
              </a:defRPr>
            </a:pPr>
            <a:r>
              <a:t>• 3~5개 국제 SI 라이센싱</a:t>
            </a:r>
          </a:p>
          <a:p>
            <a:pPr>
              <a:spcAft>
                <a:spcPts val="300"/>
              </a:spcAft>
              <a:defRPr sz="1000">
                <a:solidFill>
                  <a:srgbClr val="2D2D2D"/>
                </a:solidFill>
                <a:latin typeface="맑은 고딕"/>
              </a:defRPr>
            </a:pPr>
            <a:r>
              <a:t>• 설계 컨설팅 서비스 창출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187952"/>
            <a:ext cx="54864" cy="3200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IP 보호 전략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72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국내 특허 출원/등록 → 국제 특허 (PCT) 출원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핵심 기술 강력한 특허 포트폴리오 구축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기술 영업비밀 등록으로 글로벌 경쟁 우위 확보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Grid-Forming 인버터: 태양광·재생에너지 시스템 편익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FTO 조사 + NDA + 접근권한 제한으로 기술유출 방지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1480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187952"/>
            <a:ext cx="54864" cy="3200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성공 핵심 요인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5720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초기 기준 성공: EPC Power 프로젝트 성공 → 시장 신뢰·채택 드라이브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파트너 생태계: 글로벌 유통·설치 파트너 개발 → 시장 침투 가속화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지속적 개선: 현장 피드백 기반 제품 성능 최적화 프로세스 운영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→ 기술독특성 × 시장타이밍 × 파트너십 = 글로벌 선도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맑은 고딕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594360" cy="50292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B1D3A"/>
                </a:solidFill>
                <a:latin typeface="맑은 고딕"/>
              </a:defRPr>
            </a:pPr>
            <a:r>
              <a:t>지식재산 &amp; 인증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822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맑은 고딕"/>
              </a:defRPr>
            </a:pPr>
            <a:r>
              <a:t>특허 포트폴리오 강화 및 국제 인증 대응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627632"/>
            <a:ext cx="54864" cy="32004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지식재산권 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특허등록: 11건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특허출원: 2건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해외특허 (미국·중국·PCT): 3건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전략TF: 이호용 상무 (前 한화큐셀 특허전략)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선행특허 조사: 파이특허법률사무소 (10년+ 협업)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사내공모전 → 신규 아이템 발굴 → IP 출원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627632"/>
            <a:ext cx="54864" cy="3200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인증 현황 &amp; 계획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보유 인증: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ISO 9001 / 14001 / 45001 / 27001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한국선급 (KR) · LRQA · IMO · ABS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목표 인증: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UL 9540 (미국 안전인증)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IEC 62619 (배터리 안전)</a:t>
            </a:r>
          </a:p>
          <a:p>
            <a:pPr>
              <a:spcAft>
                <a:spcPts val="300"/>
              </a:spcAft>
              <a:defRPr sz="1100">
                <a:solidFill>
                  <a:srgbClr val="2D2D2D"/>
                </a:solidFill>
                <a:latin typeface="맑은 고딕"/>
              </a:defRPr>
            </a:pPr>
            <a:r>
              <a:t>  CE (유럽 적합성)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89120"/>
            <a:ext cx="11247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462272"/>
            <a:ext cx="54864" cy="3200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34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3A"/>
                </a:solidFill>
                <a:latin typeface="맑은 고딕"/>
              </a:defRPr>
            </a:pPr>
            <a:r>
              <a:t>국가연구개발사업 수행실적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46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ESS 설치공간 화재예방·차단 시스템개발 ('21~'25) — 산업통상자원부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MWh급 선박용 고안전성 LiB-ESS 통합시스템 국산화 ('21~'23) — 해양수산부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야전병원 ICT융합 플랫폼 디자인개발 ('21~'25) — 국방부</a:t>
            </a: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2D2D2D"/>
                </a:solidFill>
                <a:latin typeface="맑은 고딕"/>
              </a:defRPr>
            </a:pPr>
            <a:r>
              <a:t>→ 3건의 국가R&amp;D 수행 경험으로 GATC 과제 수행 역량 입증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맑은 고딕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2926080"/>
          </a:xfrm>
          <a:prstGeom prst="round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" cy="3657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맑은 고딕"/>
              </a:defRPr>
            </a:pPr>
            <a:r>
              <a:t>기술 독특성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DDEE"/>
                </a:solidFill>
                <a:latin typeface="맑은 고딕"/>
              </a:defRPr>
            </a:pPr>
            <a:r>
              <a:t>현장 연결 제거 유일한 SKID 솔루션</a:t>
            </a:r>
          </a:p>
          <a:p>
            <a:pPr>
              <a:spcAft>
                <a:spcPts val="300"/>
              </a:spcAft>
              <a:defRPr sz="1200">
                <a:solidFill>
                  <a:srgbClr val="CCDDEE"/>
                </a:solidFill>
                <a:latin typeface="맑은 고딕"/>
              </a:defRPr>
            </a:pPr>
            <a:r>
              <a:t>Grid-Forming 고급 제어 기술</a:t>
            </a:r>
          </a:p>
          <a:p>
            <a:pPr>
              <a:spcAft>
                <a:spcPts val="300"/>
              </a:spcAft>
              <a:defRPr sz="1200">
                <a:solidFill>
                  <a:srgbClr val="CCDDEE"/>
                </a:solidFill>
                <a:latin typeface="맑은 고딕"/>
              </a:defRPr>
            </a:pPr>
            <a:r>
              <a:t>Plug-and-Play 배포 혁신</a:t>
            </a:r>
          </a:p>
          <a:p>
            <a:pPr>
              <a:spcAft>
                <a:spcPts val="300"/>
              </a:spcAft>
              <a:defRPr sz="1200">
                <a:solidFill>
                  <a:srgbClr val="CCDDEE"/>
                </a:solidFill>
                <a:latin typeface="맑은 고딕"/>
              </a:defRPr>
            </a:pPr>
            <a:r>
              <a:t>설치시간 30%·노무비 30%·TCO 18% 절감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2926080"/>
          </a:xfrm>
          <a:prstGeom prst="round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600200"/>
            <a:ext cx="54864" cy="3657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맑은 고딕"/>
              </a:defRPr>
            </a:pPr>
            <a:r>
              <a:t>시장 기회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DDEE"/>
                </a:solidFill>
                <a:latin typeface="맑은 고딕"/>
              </a:defRPr>
            </a:pPr>
            <a:r>
              <a:t>글로벌 ESS 시장 CAGR 60%+</a:t>
            </a:r>
          </a:p>
          <a:p>
            <a:pPr>
              <a:spcAft>
                <a:spcPts val="300"/>
              </a:spcAft>
              <a:defRPr sz="1200">
                <a:solidFill>
                  <a:srgbClr val="CCDDEE"/>
                </a:solidFill>
                <a:latin typeface="맑은 고딕"/>
              </a:defRPr>
            </a:pPr>
            <a:r>
              <a:t>AI 데이터센터 CAGR 30%+</a:t>
            </a:r>
          </a:p>
          <a:p>
            <a:pPr>
              <a:spcAft>
                <a:spcPts val="300"/>
              </a:spcAft>
              <a:defRPr sz="1200">
                <a:solidFill>
                  <a:srgbClr val="CCDDEE"/>
                </a:solidFill>
                <a:latin typeface="맑은 고딕"/>
              </a:defRPr>
            </a:pPr>
            <a:r>
              <a:t>5년 누적 수익 600~1,000억원</a:t>
            </a:r>
          </a:p>
          <a:p>
            <a:pPr>
              <a:spcAft>
                <a:spcPts val="300"/>
              </a:spcAft>
              <a:defRPr sz="1200">
                <a:solidFill>
                  <a:srgbClr val="CCDDEE"/>
                </a:solidFill>
                <a:latin typeface="맑은 고딕"/>
              </a:defRPr>
            </a:pPr>
            <a:r>
              <a:t>10년 NPV 1,500억원+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2926080"/>
          </a:xfrm>
          <a:prstGeom prst="roundRect">
            <a:avLst/>
          </a:prstGeom>
          <a:solidFill>
            <a:srgbClr val="12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1600200"/>
            <a:ext cx="54864" cy="36576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100"/>
                </a:solidFill>
                <a:latin typeface="맑은 고딕"/>
              </a:defRPr>
            </a:pPr>
            <a:r>
              <a:t>수행 역량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1031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DDEE"/>
                </a:solidFill>
                <a:latin typeface="맑은 고딕"/>
              </a:defRPr>
            </a:pPr>
            <a:r>
              <a:t>45년 컨테이너 역사 + ESS 글로벌 1위</a:t>
            </a:r>
          </a:p>
          <a:p>
            <a:pPr>
              <a:spcAft>
                <a:spcPts val="300"/>
              </a:spcAft>
              <a:defRPr sz="1200">
                <a:solidFill>
                  <a:srgbClr val="CCDDEE"/>
                </a:solidFill>
                <a:latin typeface="맑은 고딕"/>
              </a:defRPr>
            </a:pPr>
            <a:r>
              <a:t>20년+ ESS 전문가 연구팀</a:t>
            </a:r>
          </a:p>
          <a:p>
            <a:pPr>
              <a:spcAft>
                <a:spcPts val="300"/>
              </a:spcAft>
              <a:defRPr sz="1200">
                <a:solidFill>
                  <a:srgbClr val="CCDDEE"/>
                </a:solidFill>
                <a:latin typeface="맑은 고딕"/>
              </a:defRPr>
            </a:pPr>
            <a:r>
              <a:t>13건 특허 + 국제 인증 체계</a:t>
            </a:r>
          </a:p>
          <a:p>
            <a:pPr>
              <a:spcAft>
                <a:spcPts val="300"/>
              </a:spcAft>
              <a:defRPr sz="1200">
                <a:solidFill>
                  <a:srgbClr val="CCDDEE"/>
                </a:solidFill>
                <a:latin typeface="맑은 고딕"/>
              </a:defRPr>
            </a:pPr>
            <a:r>
              <a:t>국가R&amp;D 3건 수행 경험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937760"/>
            <a:ext cx="12191695" cy="2743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CD4"/>
                </a:solidFill>
                <a:latin typeface="맑은 고딕"/>
              </a:defRPr>
            </a:pPr>
            <a:r>
              <a:t>HMC-SKID = 글로벌 ESS 시장의 게임 체인저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BBDD"/>
                </a:solidFill>
                <a:latin typeface="맑은 고딕"/>
              </a:defRPr>
            </a:pPr>
            <a:r>
              <a:t>경청해 주셔서 감사합니다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6B6B"/>
                </a:solidFill>
                <a:latin typeface="맑은 고딕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