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011680"/>
            <a:ext cx="1828800" cy="508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1945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맑은 고딕"/>
              </a:defRPr>
            </a:pPr>
            <a:r>
              <a:t>고하중 AMMR 통합 설계서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0E0E0"/>
                </a:solidFill>
                <a:latin typeface="맑은 고딕"/>
              </a:defRPr>
            </a:pPr>
            <a:r>
              <a:t>High-Load Autonomous Mobile Manipulator Robot — Integrated Design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맑은 고딕"/>
              </a:defRPr>
            </a:pPr>
            <a:r>
              <a:t>AMMR-H600  |  v0.1 Draft  |  2026-04-01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맑은 고딕"/>
              </a:defRPr>
            </a:pPr>
            <a:r>
              <a:t>제임스 (James) + 미모 (Mimo)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0" y="914400"/>
            <a:ext cx="2286000" cy="50292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1828800"/>
            <a:ext cx="1828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96D6"/>
                </a:solidFill>
                <a:latin typeface="맑은 고딕"/>
              </a:defRPr>
            </a:pPr>
            <a:r>
              <a:t>🤖</a:t>
            </a:r>
            <a:br/>
            <a:br/>
            <a:r>
              <a:t>양팔</a:t>
            </a:r>
            <a:br/>
            <a:r>
              <a:t>30kg+</a:t>
            </a:r>
            <a:br/>
            <a:r>
              <a:t>600kg AMR</a:t>
            </a:r>
            <a:br/>
            <a:r>
              <a:t>자율주행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14400"/>
            <a:ext cx="13716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96D6"/>
                </a:solidFill>
                <a:latin typeface="맑은 고딕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417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0E0"/>
                </a:solidFill>
                <a:latin typeface="맑은 고딕"/>
              </a:defRPr>
            </a:pPr>
            <a:r>
              <a:t>제품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371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96D6"/>
                </a:solidFill>
                <a:latin typeface="맑은 고딕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417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0E0"/>
                </a:solidFill>
                <a:latin typeface="맑은 고딕"/>
              </a:defRPr>
            </a:pPr>
            <a:r>
              <a:t>시장 분석 및 기회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96D6"/>
                </a:solidFill>
                <a:latin typeface="맑은 고딕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0E0"/>
                </a:solidFill>
                <a:latin typeface="맑은 고딕"/>
              </a:defRPr>
            </a:pPr>
            <a:r>
              <a:t>타겟 요구사항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3317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96D6"/>
                </a:solidFill>
                <a:latin typeface="맑은 고딕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377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0E0"/>
                </a:solidFill>
                <a:latin typeface="맑은 고딕"/>
              </a:defRPr>
            </a:pPr>
            <a:r>
              <a:t>경쟁사 분석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918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96D6"/>
                </a:solidFill>
                <a:latin typeface="맑은 고딕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337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0E0"/>
                </a:solidFill>
                <a:latin typeface="맑은 고딕"/>
              </a:defRPr>
            </a:pPr>
            <a:r>
              <a:t>시스템 아키텍처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32918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96D6"/>
                </a:solidFill>
                <a:latin typeface="맑은 고딕"/>
              </a:defRPr>
            </a:pPr>
            <a: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337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0E0"/>
                </a:solidFill>
                <a:latin typeface="맑은 고딕"/>
              </a:defRPr>
            </a:pPr>
            <a:r>
              <a:t>하위 시스템 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519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96D6"/>
                </a:solidFill>
                <a:latin typeface="맑은 고딕"/>
              </a:defRPr>
            </a:pPr>
            <a:r>
              <a:t>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297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0E0"/>
                </a:solidFill>
                <a:latin typeface="맑은 고딕"/>
              </a:defRPr>
            </a:pPr>
            <a:r>
              <a:t>소프트웨어 아키텍처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42519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96D6"/>
                </a:solidFill>
                <a:latin typeface="맑은 고딕"/>
              </a:defRPr>
            </a:pPr>
            <a:r>
              <a:t>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297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0E0"/>
                </a:solidFill>
                <a:latin typeface="맑은 고딕"/>
              </a:defRPr>
            </a:pPr>
            <a:r>
              <a:t>안전 및 규격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2120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96D6"/>
                </a:solidFill>
                <a:latin typeface="맑은 고딕"/>
              </a:defRPr>
            </a:pPr>
            <a:r>
              <a:t>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5257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0E0"/>
                </a:solidFill>
                <a:latin typeface="맑은 고딕"/>
              </a:defRPr>
            </a:pPr>
            <a:r>
              <a:t>개발 로드맵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52120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96D6"/>
                </a:solidFill>
                <a:latin typeface="맑은 고딕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257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0E0"/>
                </a:solidFill>
                <a:latin typeface="맑은 고딕"/>
              </a:defRPr>
            </a:pPr>
            <a:r>
              <a:t>리스크 분석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맑은 고딕"/>
              </a:defRPr>
            </a:pPr>
            <a:r>
              <a:t>01  제품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맑은 고딕"/>
              </a:defRPr>
            </a:pPr>
            <a:r>
              <a:t>AMMR-H600: 세계 최초 고하중 통합 AMMR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10515600" cy="13716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0E0E0"/>
                </a:solidFill>
                <a:latin typeface="맑은 고딕"/>
              </a:defRPr>
            </a:pPr>
            <a:r>
              <a:t>"양팔 + 고가반 + 고적재 AMR"을 하나의 통합 플랫폼으로</a:t>
            </a:r>
            <a:br/>
            <a:r>
              <a:t>→ 공간 효율 ↑, 재배치 자유도 ↑, 총비용 ↓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474720"/>
            <a:ext cx="2468880" cy="256032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96D6"/>
                </a:solidFill>
                <a:latin typeface="맑은 고딕"/>
              </a:defRPr>
            </a:pPr>
            <a:r>
              <a:t>🦾 양팔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06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0E0E0"/>
                </a:solidFill>
                <a:latin typeface="맑은 고딕"/>
              </a:defRPr>
            </a:pPr>
            <a:r>
              <a:t>좌우 독립/협동 작업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3474720"/>
            <a:ext cx="2468880" cy="256032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36576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8C00"/>
                </a:solidFill>
                <a:latin typeface="맑은 고딕"/>
              </a:defRPr>
            </a:pPr>
            <a:r>
              <a:t>⚖️ 가반 30kg+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206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0E0E0"/>
                </a:solidFill>
                <a:latin typeface="맑은 고딕"/>
              </a:defRPr>
            </a:pPr>
            <a:r>
              <a:t>각 팔 30kg, 합산 60kg+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474720"/>
            <a:ext cx="2468880" cy="256032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6576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C853"/>
                </a:solidFill>
                <a:latin typeface="맑은 고딕"/>
              </a:defRPr>
            </a:pPr>
            <a:r>
              <a:t>🚛 적재 600kg+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206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0E0E0"/>
                </a:solidFill>
                <a:latin typeface="맑은 고딕"/>
              </a:defRPr>
            </a:pPr>
            <a:r>
              <a:t>고하중 AMR 플랫폼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0" y="3474720"/>
            <a:ext cx="2468880" cy="256032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36576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D600"/>
                </a:solidFill>
                <a:latin typeface="맑은 고딕"/>
              </a:defRPr>
            </a:pPr>
            <a:r>
              <a:t>🧭 자율주행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206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0E0E0"/>
                </a:solidFill>
                <a:latin typeface="맑은 고딕"/>
              </a:defRPr>
            </a:pPr>
            <a:r>
              <a:t>SLAM 기반, 인프라 무수정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6309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★ "양팔 + 30kg+ + 600kg AMR 통합" — 시장에 존재하지 않는 제품 = 블루오션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맑은 고딕"/>
              </a:defRPr>
            </a:pPr>
            <a:r>
              <a:t>02  시장 분석 및 기회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맑은 고딕"/>
              </a:defRPr>
            </a:pPr>
            <a:r>
              <a:t>AMR 시장 성장 &amp; 블루오션 근거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029200" cy="2286000"/>
          </a:xfrm>
          <a:prstGeom prst="rect">
            <a:avLst/>
          </a:prstGeom>
          <a:solidFill>
            <a:srgbClr val="25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맑은 고딕"/>
              </a:defRPr>
            </a:pPr>
            <a:r>
              <a:t>📈 시장 트렌드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글로벌 AMR 시장: 2025년 ~$5.5B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591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2030년 $12B+ (CAGR ~17%)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151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모바일 매니퓰레이터: 초기 단계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87121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스마트 팩토리 수요 급증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5029200" cy="2286000"/>
          </a:xfrm>
          <a:prstGeom prst="rect">
            <a:avLst/>
          </a:prstGeom>
          <a:solidFill>
            <a:srgbClr val="25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373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맑은 고딕"/>
              </a:defRPr>
            </a:pPr>
            <a:r>
              <a:t>🎯 타겟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03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1차: 대형 제조 공장 (반도체/디스플레이/자동차)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3591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기존 AGV + 고정 로봇 운영 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151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바닥면적 제약, 라인 변경 빈번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87121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2차: 물류 허브 (대형 팔레트 처리)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206240"/>
            <a:ext cx="10515600" cy="237744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297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8C00"/>
                </a:solidFill>
                <a:latin typeface="맑은 고딕"/>
              </a:defRPr>
            </a:pPr>
            <a:r>
              <a:t>🔍 블루오션 조합 분석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754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맑은 고딕"/>
              </a:defRPr>
            </a:pPr>
            <a:r>
              <a:t>양팔 매니퓰레이터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754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C853"/>
                </a:solidFill>
                <a:latin typeface="맑은 고딕"/>
              </a:defRPr>
            </a:pPr>
            <a:r>
              <a:t>✅ 있음 (ABB YuMi, Kawasaki duAro)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937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맑은 고딕"/>
              </a:defRPr>
            </a:pPr>
            <a:r>
              <a:t>30kg+ 가반 양팔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51937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600"/>
                </a:solidFill>
                <a:latin typeface="맑은 고딕"/>
              </a:defRPr>
            </a:pPr>
            <a:r>
              <a:t>⚠️ 제한적 (단팔 30kg+는 다수)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632704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맑은 고딕"/>
              </a:defRPr>
            </a:pPr>
            <a:r>
              <a:t>600kg+ AMR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5632704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C853"/>
                </a:solidFill>
                <a:latin typeface="맑은 고딕"/>
              </a:defRPr>
            </a:pPr>
            <a:r>
              <a:t>✅ 있음 (MiR600, OTTO 1500)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607161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맑은 고딕"/>
              </a:defRPr>
            </a:pPr>
            <a:r>
              <a:t>양팔 + 30kg+ + 600kg AMR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607161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4545"/>
                </a:solidFill>
                <a:latin typeface="맑은 고딕"/>
              </a:defRPr>
            </a:pPr>
            <a:r>
              <a:t>❌ 시장에 없음 ← 우리 타겟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맑은 고딕"/>
              </a:defRPr>
            </a:pPr>
            <a:r>
              <a:t>03  타겟 요구사항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맑은 고딕"/>
              </a:defRPr>
            </a:pPr>
            <a:r>
              <a:t>핵심 성능 사양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474720" cy="100584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맑은 고딕"/>
              </a:defRPr>
            </a:pPr>
            <a:r>
              <a:t>AMR 적재능력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96D6"/>
                </a:solidFill>
                <a:latin typeface="맑은 고딕"/>
              </a:defRPr>
            </a:pPr>
            <a:r>
              <a:t>≥ 600kg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59" y="1645920"/>
            <a:ext cx="3474720" cy="100584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39" y="17373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맑은 고딕"/>
              </a:defRPr>
            </a:pPr>
            <a:r>
              <a:t>팔 가반중량 (각)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39" y="20574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96D6"/>
                </a:solidFill>
                <a:latin typeface="맑은 고딕"/>
              </a:defRPr>
            </a:pPr>
            <a:r>
              <a:t>≥ 30kg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598" y="1645920"/>
            <a:ext cx="3474720" cy="100584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8" y="17373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맑은 고딕"/>
              </a:defRPr>
            </a:pPr>
            <a:r>
              <a:t>팔 작업반경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8" y="20574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  <a:latin typeface="맑은 고딕"/>
              </a:defRPr>
            </a:pPr>
            <a:r>
              <a:t>≥ 1,500mm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834640"/>
            <a:ext cx="3474720" cy="100584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맑은 고딕"/>
              </a:defRPr>
            </a:pPr>
            <a:r>
              <a:t>자율주행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2461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C853"/>
                </a:solidFill>
                <a:latin typeface="맑은 고딕"/>
              </a:defRPr>
            </a:pPr>
            <a:r>
              <a:t>SLAM 기반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59" y="2834640"/>
            <a:ext cx="3474720" cy="100584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39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맑은 고딕"/>
              </a:defRPr>
            </a:pPr>
            <a:r>
              <a:t>최대 이동속도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39" y="32461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  <a:latin typeface="맑은 고딕"/>
              </a:defRPr>
            </a:pPr>
            <a:r>
              <a:t>1.5 m/s (하중)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598" y="2834640"/>
            <a:ext cx="3474720" cy="100584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8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맑은 고딕"/>
              </a:defRPr>
            </a:pPr>
            <a:r>
              <a:t>위치 정밀도 (AMR)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66666"/>
                </a:solidFill>
                <a:latin typeface="맑은 고딕"/>
              </a:defRPr>
            </a:pPr>
            <a:r>
              <a:t>±10mm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023360"/>
            <a:ext cx="3474720" cy="100584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1148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맑은 고딕"/>
              </a:defRPr>
            </a:pPr>
            <a:r>
              <a:t>위치 정밀도 (팔)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4348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66666"/>
                </a:solidFill>
                <a:latin typeface="맑은 고딕"/>
              </a:defRPr>
            </a:pPr>
            <a:r>
              <a:t>±0.1mm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59" y="4023360"/>
            <a:ext cx="3474720" cy="100584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39" y="41148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맑은 고딕"/>
              </a:defRPr>
            </a:pPr>
            <a:r>
              <a:t>배터리 수명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39" y="44348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C853"/>
                </a:solidFill>
                <a:latin typeface="맑은 고딕"/>
              </a:defRPr>
            </a:pPr>
            <a:r>
              <a:t>≥ 6시간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598" y="4023360"/>
            <a:ext cx="3474720" cy="100584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8" y="41148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맑은 고딕"/>
              </a:defRPr>
            </a:pPr>
            <a:r>
              <a:t>급속 충전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8" y="44348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C853"/>
                </a:solidFill>
                <a:latin typeface="맑은 고딕"/>
              </a:defRPr>
            </a:pPr>
            <a:r>
              <a:t>80% in 30min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212080"/>
            <a:ext cx="3474720" cy="100584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3035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맑은 고딕"/>
              </a:defRPr>
            </a:pPr>
            <a:r>
              <a:t>등판각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6235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  <a:latin typeface="맑은 고딕"/>
              </a:defRPr>
            </a:pPr>
            <a:r>
              <a:t>≥ 5° (600kg)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80559" y="5212080"/>
            <a:ext cx="3474720" cy="100584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63439" y="53035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맑은 고딕"/>
              </a:defRPr>
            </a:pPr>
            <a:r>
              <a:t>급정지 거리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39" y="56235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4545"/>
                </a:solidFill>
                <a:latin typeface="맑은 고딕"/>
              </a:defRPr>
            </a:pPr>
            <a:r>
              <a:t>≤ 1m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598" y="5212080"/>
            <a:ext cx="3474720" cy="100584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78" y="53035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맑은 고딕"/>
              </a:defRPr>
            </a:pPr>
            <a:r>
              <a:t>통신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78" y="56235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96D6"/>
                </a:solidFill>
                <a:latin typeface="맑은 고딕"/>
              </a:defRPr>
            </a:pPr>
            <a:r>
              <a:t>Wi-Fi 6E + 5G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맑은 고딕"/>
              </a:defRPr>
            </a:pPr>
            <a:r>
              <a:t>04  경쟁사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맑은 고딕"/>
              </a:defRPr>
            </a:pPr>
            <a:r>
              <a:t>경쟁 매트릭스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9144000" cy="41148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업체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6916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제품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6916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AMR 적재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6916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팔 가반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916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양팔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16916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통합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03120"/>
            <a:ext cx="9144000" cy="438912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MiR + 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17627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MC600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17627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600kg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217627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30kg (UR30)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1762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4545"/>
                </a:solidFill>
                <a:latin typeface="맑은 고딕"/>
              </a:defRPr>
            </a:pPr>
            <a:r>
              <a:t>❌ 단팔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17627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반통합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560320"/>
            <a:ext cx="9144000" cy="43891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263347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ROKAE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263347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CMR + CR35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263347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500kg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263347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45kg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26334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4545"/>
                </a:solidFill>
                <a:latin typeface="맑은 고딕"/>
              </a:defRPr>
            </a:pPr>
            <a:r>
              <a:t>❌ 별도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263347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미통합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3017520"/>
            <a:ext cx="9144000" cy="438912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309067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KUKA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0" y="309067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KMP 600P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09067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600kg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309067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-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30906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-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09067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AMR만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3474720"/>
            <a:ext cx="9144000" cy="43891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354787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OTTO Motors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51760" y="354787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OTTO 1500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63440" y="354787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1500kg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40" y="354787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-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3547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-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354787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AMR만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3931920"/>
            <a:ext cx="9144000" cy="438912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400507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FANUC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51760" y="400507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M-2000iA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400507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-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0" y="400507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900kg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0" y="40050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4545"/>
                </a:solidFill>
                <a:latin typeface="맑은 고딕"/>
              </a:defRPr>
            </a:pPr>
            <a:r>
              <a:t>❌ 단팔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03920" y="400507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팔만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" y="4389120"/>
            <a:ext cx="9144000" cy="43891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2960" y="446227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Rainbow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51760" y="446227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RB-Y1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46227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경량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0" y="446227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3kg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06640" y="44622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C853"/>
                </a:solidFill>
                <a:latin typeface="맑은 고딕"/>
              </a:defRPr>
            </a:pPr>
            <a:r>
              <a:t>✅ 양팔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46227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통합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4846320"/>
            <a:ext cx="9144000" cy="50292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" y="49377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AMMR-H600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51760" y="49377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우리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937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600kg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0" y="4937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30kg+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06640" y="4937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✅ 양팔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937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✅ 완전통합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5577840"/>
            <a:ext cx="9144000" cy="100584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566928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00"/>
                </a:solidFill>
                <a:latin typeface="맑은 고딕"/>
              </a:defRPr>
            </a:pPr>
            <a:r>
              <a:t>⚠️ 최근접 경쟁자: ROKAE (珞石)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5840" y="59893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CR35 (45kg 가반) + CMR (500kg AMR) — 구성요소 보유, 통합 제품 미출시</a:t>
            </a:r>
            <a:br/>
            <a:r>
              <a:t>→ 600kg+ 자체 개발하면 확실한 차별화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맑은 고딕"/>
              </a:defRPr>
            </a:pPr>
            <a:r>
              <a:t>05  시스템 아키텍처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맑은 고딕"/>
              </a:defRPr>
            </a:pPr>
            <a:r>
              <a:t>전체 시스템 구성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474720" cy="41148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474720" cy="508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맑은 고딕"/>
              </a:defRPr>
            </a:pPr>
            <a:r>
              <a:t>양팔 매니퓰레이터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▸ Left Arm (30kg+ / 7DOF)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15184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▸ Right Arm (30kg+ / 7DOF)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944368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▸ 엔드 이펙터 (퀵체인지)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27355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▸ F/T 센서 (각 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02736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▸ 비전 카메라 (팔 끝단)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3192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▸ 자기충돌검지 시스템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59" y="1645920"/>
            <a:ext cx="3474720" cy="41148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59" y="1645920"/>
            <a:ext cx="3474720" cy="508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39" y="1828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8C00"/>
                </a:solidFill>
                <a:latin typeface="맑은 고딕"/>
              </a:defRPr>
            </a:pPr>
            <a:r>
              <a:t>AMR 플랫폼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79" y="228600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▸ 4륜 독립구동 (Mecanum)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2615184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▸ BLDC 서보모터 ×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79" y="2944368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▸ LiFePO4 배터리 2.5kWh+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79" y="327355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▸ 적재능력 600kg+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79" y="3602736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▸ 급속 충전 (도킹 자동)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79" y="393192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▸ 섀시: ~1200×800mm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598" y="1645920"/>
            <a:ext cx="3474720" cy="41148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598" y="1645920"/>
            <a:ext cx="3474720" cy="508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78" y="1828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853"/>
                </a:solidFill>
                <a:latin typeface="맑은 고딕"/>
              </a:defRPr>
            </a:pPr>
            <a:r>
              <a:t>통합 제어 시스템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8" y="228600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▸ Motion Planner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8" y="2615184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▸ Task Scheduler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18" y="2944368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▸ Safety Manager (SIL2)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18" y="327355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▸ Navigation 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8" y="3602736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▸ Sensor Fusion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8" y="393192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▸ Fleet Manager 연동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943600"/>
            <a:ext cx="10515600" cy="64008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맑은 고딕"/>
              </a:defRPr>
            </a:pPr>
            <a:r>
              <a:t>🔗 통신:  Wi-Fi 6E  |  5G (옵션)  |  EtherCAT (내부)  |  CAN (센서)  |  MQTT/gRPC (Fleet)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맑은 고딕"/>
              </a:defRPr>
            </a:pPr>
            <a:r>
              <a:t>06  하위 시스템 — AMR 플랫폼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맑은 고딕"/>
              </a:defRPr>
            </a:pPr>
            <a:r>
              <a:t>구동 · 섀시 · 배터리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291840" cy="2743200"/>
          </a:xfrm>
          <a:prstGeom prst="rect">
            <a:avLst/>
          </a:prstGeom>
          <a:solidFill>
            <a:srgbClr val="25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맑은 고딕"/>
              </a:defRPr>
            </a:pPr>
            <a:r>
              <a:t>🔧 구동 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Mecanum 4륜 독립구동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5915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BLDC 서보모터 × 500W+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1518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하모닉 드라이브 감속기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87121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총 추력 3kN+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12724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최대 2.0m/s (공차)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832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최대 1.5m/s (600kg)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1645920"/>
            <a:ext cx="3291840" cy="2743200"/>
          </a:xfrm>
          <a:prstGeom prst="rect">
            <a:avLst/>
          </a:prstGeom>
          <a:solidFill>
            <a:srgbClr val="25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737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맑은 고딕"/>
              </a:defRPr>
            </a:pPr>
            <a:r>
              <a:t>🏗️ 섀시 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강성 알루미늄 프레임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35915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팔 마운트 통합 구조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61518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치수: ~1200×800×400mm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7121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자중 목표: ≤ 250kg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2724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등판각: ≥ 5° (600kg)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3832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급정지: ≤ 1m (최대속도)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1645920"/>
            <a:ext cx="3291840" cy="2743200"/>
          </a:xfrm>
          <a:prstGeom prst="rect">
            <a:avLst/>
          </a:prstGeom>
          <a:solidFill>
            <a:srgbClr val="25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737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맑은 고딕"/>
              </a:defRPr>
            </a:pPr>
            <a:r>
              <a:t>🔋 배터리 시스템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LiFePO4 (안전성 우선)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35915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용량 ≥ 2.5kWh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61518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48V / 72V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287121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연속 운용 ≥ 6시간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312724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급속 충전: 80% in 30min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33832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자동 도킹 충전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663440"/>
            <a:ext cx="10515600" cy="192024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맑은 고딕"/>
              </a:defRPr>
            </a:pPr>
            <a:r>
              <a:t>📐 상면도 (Top View)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21208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┌─────────────────────────────────────────────┐</a:t>
            </a:r>
            <a:br/>
            <a:r>
              <a:t>│          ┌───────────────────┐               │</a:t>
            </a:r>
            <a:br/>
            <a:r>
              <a:t>│  ○ Front │  팔 마운트 영역    │  Rear ○       │</a:t>
            </a:r>
            <a:br/>
            <a:r>
              <a:t>│  Wheel   │  (강성 프레임)     │  Wheel        │</a:t>
            </a:r>
            <a:br/>
            <a:r>
              <a:t>│          │  ┌───┐   ┌───┐   │               │</a:t>
            </a:r>
            <a:br/>
            <a:r>
              <a:t>│          │  │ L │   │ R │   │               │</a:t>
            </a:r>
            <a:br/>
            <a:r>
              <a:t>│          │  │Arm│   │Arm│   │               │</a:t>
            </a:r>
            <a:br/>
            <a:r>
              <a:t>│          └──┴───┴───┴───┴───┘               │</a:t>
            </a:r>
            <a:br/>
            <a:r>
              <a:t>│  ○ Front │  배터리 + 제어기   │  Rear ○       │</a:t>
            </a:r>
            <a:br/>
            <a:r>
              <a:t>│  Wheel   │                   │  Wheel        │</a:t>
            </a:r>
            <a:br/>
            <a:r>
              <a:t>└─────────────────────────────────────────────┘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맑은 고딕"/>
              </a:defRPr>
            </a:pPr>
            <a:r>
              <a:t>06  하위 시스템 — 양팔 매니퓰레이터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맑은 고딕"/>
              </a:defRPr>
            </a:pPr>
            <a:r>
              <a:t>팔 사양 · 배치 · 엔드이펙터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291840" cy="3200400"/>
          </a:xfrm>
          <a:prstGeom prst="rect">
            <a:avLst/>
          </a:prstGeom>
          <a:solidFill>
            <a:srgbClr val="25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맑은 고딕"/>
              </a:defRPr>
            </a:pPr>
            <a:r>
              <a:t>🦾 각 팔 사양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DOF: 6 + 1 (그리퍼) = 7축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5915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가반중량: ≥ 30kg (최대)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1518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연속 작업: 20kg (권장)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87121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작업반경: ≥ 1,500mm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12724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반복 정밀도: ±0.1mm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832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최대 솔도: 180°/s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3931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구동: BLDC + 감속기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89534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무게: 각 팔 ≤ 50kg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5137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프로토콜: EtherCAT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1645920"/>
            <a:ext cx="3291840" cy="3200400"/>
          </a:xfrm>
          <a:prstGeom prst="rect">
            <a:avLst/>
          </a:prstGeom>
          <a:solidFill>
            <a:srgbClr val="25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737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맑은 고딕"/>
              </a:defRPr>
            </a:pPr>
            <a:r>
              <a:t>🤏 엔드 이펙터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기본: 2핀 전기 그리퍼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35915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30kg 인양 가능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261518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옵션: 진공 그리퍼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287121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옵션: 3핀 서보 그리퍼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312724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퀵 체인지: ISO 9409-1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33832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공구 자동 교체 지원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363931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Force/Torque 센서 내장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389534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비전 카메라 (팔 끝단)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1645920"/>
            <a:ext cx="3291840" cy="3200400"/>
          </a:xfrm>
          <a:prstGeom prst="rect">
            <a:avLst/>
          </a:prstGeom>
          <a:solidFill>
            <a:srgbClr val="25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1737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맑은 고딕"/>
              </a:defRPr>
            </a:pPr>
            <a:r>
              <a:t>🤝 양팔 협동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양팔 간격: ~600mm (기본)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35915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양팔 교차 작업 가능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61518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독립 동작 모드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87121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협동 동작 모드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312724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실시간 자기충돌검지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3832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충돌 방지 알고리즘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363931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Admittance 힘 제어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89534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작업 분담 자동 최적화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120640"/>
            <a:ext cx="10515600" cy="146304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2120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맑은 고딕"/>
              </a:defRPr>
            </a:pPr>
            <a:r>
              <a:t>📐 정면도 (Front View)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" y="5577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Consolas"/>
              </a:defRPr>
            </a:pPr>
            <a:r>
              <a:t>              ┌─────┐</a:t>
            </a:r>
            <a:br/>
            <a:r>
              <a:t>         ┌────┤     ├────┐</a:t>
            </a:r>
            <a:br/>
            <a:r>
              <a:t>         │ L  │ 상판 │  R │</a:t>
            </a:r>
            <a:br/>
            <a:r>
              <a:t>         │Arm │     │Arm │</a:t>
            </a:r>
            <a:br/>
            <a:r>
              <a:t>        ╱│    │     │    │╲</a:t>
            </a:r>
            <a:br/>
            <a:r>
              <a:t>       ╱ └────┘     └────┘ 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맑은 고딕"/>
              </a:defRPr>
            </a:pPr>
            <a:r>
              <a:t>06  하위 시스템 — 센서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맑은 고딕"/>
              </a:defRPr>
            </a:pPr>
            <a:r>
              <a:t>센서 융합 시스템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212080" cy="9144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63500" cy="9144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96D6"/>
                </a:solidFill>
                <a:latin typeface="맑은 고딕"/>
              </a:defRPr>
            </a:pPr>
            <a:r>
              <a:t>3D LiDAR ×1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SLAM, 3D 매핑, 장애물 검지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212080" cy="9144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45920"/>
            <a:ext cx="63500" cy="914400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4545"/>
                </a:solidFill>
                <a:latin typeface="맑은 고딕"/>
              </a:defRPr>
            </a:pPr>
            <a:r>
              <a:t>2D Safety LiDAR ×2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전/후방 안전 영역 스캐닝 (SIL2)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697480"/>
            <a:ext cx="5212080" cy="9144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2697480"/>
            <a:ext cx="63500" cy="914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7889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8C00"/>
                </a:solidFill>
                <a:latin typeface="맑은 고딕"/>
              </a:defRPr>
            </a:pPr>
            <a:r>
              <a:t>Depth Camera ×2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154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전/후방 3D 매핑, 피킹 유도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697480"/>
            <a:ext cx="5212080" cy="9144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2697480"/>
            <a:ext cx="63500" cy="9144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7889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66666"/>
                </a:solidFill>
                <a:latin typeface="맑은 고딕"/>
              </a:defRPr>
            </a:pPr>
            <a:r>
              <a:t>IMU ×1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154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관성 항법, 자세 추정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749040"/>
            <a:ext cx="5212080" cy="9144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3749040"/>
            <a:ext cx="63500" cy="9144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8404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C853"/>
                </a:solidFill>
                <a:latin typeface="맑은 고딕"/>
              </a:defRPr>
            </a:pPr>
            <a:r>
              <a:t>비전 카메라 ×2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2062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팔 끝단, 비전 유도 작업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749040"/>
            <a:ext cx="5212080" cy="9144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3749040"/>
            <a:ext cx="63500" cy="91440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38404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D600"/>
                </a:solidFill>
                <a:latin typeface="맑은 고딕"/>
              </a:defRPr>
            </a:pPr>
            <a:r>
              <a:t>F/T 센서 ×2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2062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각 팔, 힘 제어 &amp; 충돌 검지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800600"/>
            <a:ext cx="5212080" cy="9144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4800600"/>
            <a:ext cx="63500" cy="9144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892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96D6"/>
                </a:solidFill>
                <a:latin typeface="맑은 고딕"/>
              </a:defRPr>
            </a:pPr>
            <a:r>
              <a:t>UWB 안테나 ×4+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257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실내 정밀 위치 (±10mm)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800600"/>
            <a:ext cx="5212080" cy="9144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920" y="4800600"/>
            <a:ext cx="63500" cy="9144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4892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66666"/>
                </a:solidFill>
                <a:latin typeface="맑은 고딕"/>
              </a:defRPr>
            </a:pPr>
            <a:r>
              <a:t>엔코더 (각 관절)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257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관절 위치 피드백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5943600"/>
            <a:ext cx="10515600" cy="64008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맑은 고딕"/>
              </a:defRPr>
            </a:pPr>
            <a:r>
              <a:t>🔄 센서 융합:  LiDAR + Depth Camera + IMU → 확장 칼만 필터(EKF) → 통합 환경 인지도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맑은 고딕"/>
              </a:defRPr>
            </a:pPr>
            <a:r>
              <a:t>07  소프트웨어 아키텍처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맑은 고딕"/>
              </a:defRPr>
            </a:pPr>
            <a:r>
              <a:t>ROS 2 기반 소프트웨어 스택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011680" cy="6858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63500" cy="6858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00"/>
                </a:solidFill>
                <a:latin typeface="맑은 고딕"/>
              </a:defRPr>
            </a:pPr>
            <a:r>
              <a:t>응용 계층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맑은 고딕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2926080" y="1645920"/>
            <a:ext cx="8503920" cy="6858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828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Task API  |  Mission Editor  |  Fleet Dashboard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468880"/>
            <a:ext cx="2011680" cy="6858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468880"/>
            <a:ext cx="63500" cy="6858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514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맑은 고딕"/>
              </a:defRPr>
            </a:pPr>
            <a:r>
              <a:t>미들웨어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8346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맑은 고딕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2926080" y="2468880"/>
            <a:ext cx="8503920" cy="6858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08960" y="26517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ROS 2 (Humble/Iron)  |  gRPC  |  MQTT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291840"/>
            <a:ext cx="2011680" cy="6858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291840"/>
            <a:ext cx="63500" cy="6858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337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853"/>
                </a:solidFill>
                <a:latin typeface="맑은 고딕"/>
              </a:defRPr>
            </a:pPr>
            <a:r>
              <a:t>핵심 모듈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657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맑은 고딕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2926080" y="3291840"/>
            <a:ext cx="8503920" cy="6858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34747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Navigation  |  Manipulation  |  Perception  |  Safety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114800"/>
            <a:ext cx="2011680" cy="6858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4114800"/>
            <a:ext cx="63500" cy="6858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160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6666"/>
                </a:solidFill>
                <a:latin typeface="맑은 고딕"/>
              </a:defRPr>
            </a:pPr>
            <a:r>
              <a:t>드라이버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480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맑은 고딕"/>
              </a:defRPr>
            </a:pPr>
          </a:p>
        </p:txBody>
      </p:sp>
      <p:sp>
        <p:nvSpPr>
          <p:cNvPr id="27" name="Rectangle 26"/>
          <p:cNvSpPr/>
          <p:nvPr/>
        </p:nvSpPr>
        <p:spPr>
          <a:xfrm>
            <a:off x="2926080" y="4114800"/>
            <a:ext cx="8503920" cy="6858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08960" y="42976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EtherCAT Master  |  CAN Driver  |  Sensor Drivers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937760"/>
            <a:ext cx="2011680" cy="6858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4937760"/>
            <a:ext cx="63500" cy="685800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983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4545"/>
                </a:solidFill>
                <a:latin typeface="맑은 고딕"/>
              </a:defRPr>
            </a:pPr>
            <a:r>
              <a:t>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303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맑은 고딕"/>
              </a:defRPr>
            </a:pPr>
          </a:p>
        </p:txBody>
      </p:sp>
      <p:sp>
        <p:nvSpPr>
          <p:cNvPr id="33" name="Rectangle 32"/>
          <p:cNvSpPr/>
          <p:nvPr/>
        </p:nvSpPr>
        <p:spPr>
          <a:xfrm>
            <a:off x="2926080" y="4937760"/>
            <a:ext cx="8503920" cy="6858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08960" y="51206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Ubuntu 22.04 + PREEMPT_RT  |  Safety PLC Firmware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943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맑은 고딕"/>
              </a:defRPr>
            </a:pPr>
            <a:r>
              <a:t>주요 기술:  Cartographer (SLAM)  |  Nav2 (경로계획)  |  MoveIt 2 (Manipulation)  |  Gazebo/Isaac Sim (시뮬레이션)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맑은 고딕"/>
              </a:defRPr>
            </a:pPr>
            <a:r>
              <a:t>08  안전 및 규격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맑은 고딕"/>
              </a:defRPr>
            </a:pPr>
            <a:r>
              <a:t>안전 시스템 아키텍처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029200" cy="2103120"/>
          </a:xfrm>
          <a:prstGeom prst="rect">
            <a:avLst/>
          </a:prstGeom>
          <a:solidFill>
            <a:srgbClr val="25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맑은 고딕"/>
              </a:defRPr>
            </a:pPr>
            <a:r>
              <a:t>📋 적용 규격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ISO 3691-4:2023 — 무인 운반차 안전 (필수)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591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ISO 10218-1/2 — 산업 로봇 안전 (필수)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151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ISO/TS 15066 — 협동 로봇 안전 (필수)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87121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ISO 13849-1 — 안전 제어 PLd 이상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12724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ANSI R15.08 — 산업용 모바일 로봇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645920"/>
            <a:ext cx="5029200" cy="2103120"/>
          </a:xfrm>
          <a:prstGeom prst="rect">
            <a:avLst/>
          </a:prstGeom>
          <a:solidFill>
            <a:srgbClr val="25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7373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맑은 고딕"/>
              </a:defRPr>
            </a:pPr>
            <a:r>
              <a:t>🛡️ 안전 아키텍처 (2채널)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103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Main Control (표준 채널) + Safety PLC (안전 채널)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3591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SIL2 / PLd 등급 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6151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E-Stop: 하드웨어 + 소프트웨어 이중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87121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Safe Torque Off (STO) 기능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2724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맑은 고딕"/>
              </a:defRPr>
            </a:pPr>
            <a:r>
              <a:t>• 독립 안전 검증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023360"/>
            <a:ext cx="10515600" cy="256032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114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4545"/>
                </a:solidFill>
                <a:latin typeface="맑은 고딕"/>
              </a:defRPr>
            </a:pPr>
            <a:r>
              <a:t>🚧 안전 존 (Safety Zones)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88720" y="4572000"/>
            <a:ext cx="2286000" cy="457200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0" y="46634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STOP ZONE (&lt; 0.5m)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46634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맑은 고딕"/>
              </a:defRPr>
            </a:pPr>
            <a:r>
              <a:t>→ 즉시 정지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5166360"/>
            <a:ext cx="2286000" cy="45720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0" y="52578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SLOW ZONE (&lt; 2m)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5257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맑은 고딕"/>
              </a:defRPr>
            </a:pPr>
            <a:r>
              <a:t>→ 0.5m/s 이하 감속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88720" y="5760720"/>
            <a:ext cx="2286000" cy="4572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0" y="58521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WARNING ZONE (&lt; 5m)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5852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맑은 고딕"/>
              </a:defRPr>
            </a:pPr>
            <a:r>
              <a:t>→ 경고 + 점진 감속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63093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853"/>
                </a:solidFill>
                <a:latin typeface="맑은 고딕"/>
              </a:defRPr>
            </a:pPr>
            <a:r>
              <a:t>✅ 비상 정지 거리: 최대속도(1.5m/s)에서 ≤ 1m  |  ISO 3691-4 준수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맑은 고딕"/>
              </a:defRPr>
            </a:pPr>
            <a:r>
              <a:t>09  개발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맑은 고딕"/>
              </a:defRPr>
            </a:pPr>
            <a:r>
              <a:t>4단계 24개월 개발 계획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560320" cy="45720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2560320" cy="635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  <a:latin typeface="맑은 고딕"/>
              </a:defRPr>
            </a:pPr>
            <a: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기초 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맑은 고딕"/>
              </a:defRPr>
            </a:pPr>
            <a:r>
              <a:t>0~6개월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834640"/>
            <a:ext cx="219456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017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▸ 상세 기계/전기 설계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8328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▸ SW 아키텍처 확정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749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▸ 핵심 부품 선정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1148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▸ 시뮬레이터 구축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1645920"/>
            <a:ext cx="2560320" cy="45720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66160" y="1645920"/>
            <a:ext cx="2560320" cy="635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0" y="1828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8C00"/>
                </a:solidFill>
                <a:latin typeface="맑은 고딕"/>
              </a:defRPr>
            </a:pPr>
            <a:r>
              <a:t>Phase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21031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프로토타입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24688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맑은 고딕"/>
              </a:defRPr>
            </a:pPr>
            <a:r>
              <a:t>6~12개월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9040" y="2834640"/>
            <a:ext cx="219456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94760" y="3017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▸ AMR 플랫폼 제작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338328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▸ 양팔 통합 &amp; 캘리브레이션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749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▸ 자율주행 구현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41148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▸ 안전 시스템 1차 검증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1645920"/>
            <a:ext cx="2560320" cy="45720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1645920"/>
            <a:ext cx="2560320" cy="635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1828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853"/>
                </a:solidFill>
                <a:latin typeface="맑은 고딕"/>
              </a:defRPr>
            </a:pPr>
            <a:r>
              <a:t>Phase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21031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시험·검증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4688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맑은 고딕"/>
              </a:defRPr>
            </a:pPr>
            <a:r>
              <a:t>12~18개월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0" y="2834640"/>
            <a:ext cx="219456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3017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▸ 통합 테스트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38328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▸ 안전 인증 (ISO 3691-4)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3749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▸ 현장 파일럿 테스트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41148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▸ 성능 최적화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35440" y="1645920"/>
            <a:ext cx="2560320" cy="457200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35440" y="1645920"/>
            <a:ext cx="2560320" cy="6350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18320" y="1828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600"/>
                </a:solidFill>
                <a:latin typeface="맑은 고딕"/>
              </a:defRPr>
            </a:pPr>
            <a:r>
              <a:t>Phase 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1031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양산 준비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4688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맑은 고딕"/>
              </a:defRPr>
            </a:pPr>
            <a:r>
              <a:t>18~24개월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18320" y="2834640"/>
            <a:ext cx="219456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64040" y="3017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▸ 양산 설계 (DFM)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64040" y="338328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▸ 공급망 구축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64040" y="3749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▸ 마케팅 &amp; 영업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64040" y="41148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▸ 첫 고객 인도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00800"/>
            <a:ext cx="10515600" cy="27432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맑은 고딕"/>
              </a:defRPr>
            </a:pPr>
            <a:r>
              <a:t>M1: 설계확정(6M)  →  M2: 프로토타입(12M)  →  M3: 안전인증(15M)  →  M4: 파일럿완료(18M)  →  M5: 양산개시(24M)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맑은 고딕"/>
              </a:defRPr>
            </a:pPr>
            <a:r>
              <a:t>10  리스크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맑은 고딕"/>
              </a:defRPr>
            </a:pPr>
            <a:r>
              <a:t>리스크 매트릭스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10515600" cy="41148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리스크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6916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확률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6916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영향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16916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대응 방안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03120"/>
            <a:ext cx="10515600" cy="50292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194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600kg 하중 안전성 미달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1945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600"/>
                </a:solidFill>
                <a:latin typeface="맑은 고딕"/>
              </a:defRPr>
            </a:pPr>
            <a:r>
              <a:t>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1945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4545"/>
                </a:solidFill>
                <a:latin typeface="맑은 고딕"/>
              </a:defRPr>
            </a:pPr>
            <a:r>
              <a:t>높음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19456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Safety PLC 2채널, 조기 안전 테스트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633472"/>
            <a:ext cx="10515600" cy="5029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72491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양팔 충돌/간섭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72491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600"/>
                </a:solidFill>
                <a:latin typeface="맑은 고딕"/>
              </a:defRPr>
            </a:pPr>
            <a:r>
              <a:t>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72491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600"/>
                </a:solidFill>
                <a:latin typeface="맑은 고딕"/>
              </a:defRPr>
            </a:pPr>
            <a:r>
              <a:t>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2724912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실시간 자기충돌검지, 시뮬레이션 선행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163824"/>
            <a:ext cx="10515600" cy="50292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25526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배터리 수명 부족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25526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600"/>
                </a:solidFill>
                <a:latin typeface="맑은 고딕"/>
              </a:defRPr>
            </a:pPr>
            <a:r>
              <a:t>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325526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600"/>
                </a:solidFill>
                <a:latin typeface="맑은 고딕"/>
              </a:defRPr>
            </a:pPr>
            <a:r>
              <a:t>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3255264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LiFePO4, 급속 충전, 배터리 스왑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694176"/>
            <a:ext cx="10515600" cy="5029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78561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AMR 정밀도 미달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78561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C853"/>
                </a:solidFill>
                <a:latin typeface="맑은 고딕"/>
              </a:defRPr>
            </a:pPr>
            <a:r>
              <a:t>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378561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4545"/>
                </a:solidFill>
                <a:latin typeface="맑은 고딕"/>
              </a:defRPr>
            </a:pPr>
            <a:r>
              <a:t>높음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3785616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UWB + LiDAR 이중 위치 추정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4224528"/>
            <a:ext cx="10515600" cy="50292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3159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핵심 부품 수급 불안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431596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600"/>
                </a:solidFill>
                <a:latin typeface="맑은 고딕"/>
              </a:defRPr>
            </a:pPr>
            <a:r>
              <a:t>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431596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4545"/>
                </a:solidFill>
                <a:latin typeface="맑은 고딕"/>
              </a:defRPr>
            </a:pPr>
            <a:r>
              <a:t>높음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94960" y="4315968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이중 소싱, 대체 부품 선정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754880"/>
            <a:ext cx="10515600" cy="5029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48463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안전 인증 지연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8463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600"/>
                </a:solidFill>
                <a:latin typeface="맑은 고딕"/>
              </a:defRPr>
            </a:pPr>
            <a:r>
              <a:t>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48463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4545"/>
                </a:solidFill>
                <a:latin typeface="맑은 고딕"/>
              </a:defRPr>
            </a:pPr>
            <a:r>
              <a:t>높음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94960" y="484632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인증 컨설턴트 조기 투입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5285232"/>
            <a:ext cx="10515600" cy="502920"/>
          </a:xfrm>
          <a:prstGeom prst="rect">
            <a:avLst/>
          </a:prstGeom>
          <a:solidFill>
            <a:srgbClr val="2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3766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ROKAE 선제 진입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0" y="537667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C853"/>
                </a:solidFill>
                <a:latin typeface="맑은 고딕"/>
              </a:defRPr>
            </a:pPr>
            <a:r>
              <a:t>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0560" y="537667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4545"/>
                </a:solidFill>
                <a:latin typeface="맑은 고딕"/>
              </a:defRPr>
            </a:pPr>
            <a:r>
              <a:t>높음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94960" y="5376672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개발 속도 확보, 특허 선점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5815584"/>
            <a:ext cx="10515600" cy="5029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" y="590702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SW 안정성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66160" y="590702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600"/>
                </a:solidFill>
                <a:latin typeface="맑은 고딕"/>
              </a:defRPr>
            </a:pPr>
            <a:r>
              <a:t>중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80560" y="590702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600"/>
                </a:solidFill>
                <a:latin typeface="맑은 고딕"/>
              </a:defRPr>
            </a:pPr>
            <a:r>
              <a:t>중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94960" y="5907024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맑은 고딕"/>
              </a:defRPr>
            </a:pPr>
            <a:r>
              <a:t>CI/CD, HIL 시뮬레이션, 지속적 테스트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011680"/>
            <a:ext cx="1828800" cy="508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맑은 고딕"/>
              </a:defRPr>
            </a:pPr>
            <a:r>
              <a:t>AMMR-H600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96D6"/>
                </a:solidFill>
                <a:latin typeface="맑은 고딕"/>
              </a:defRPr>
            </a:pPr>
            <a:r>
              <a:t>양팔 + 30kg+ + 600kg AMR + 자율주행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0E0"/>
                </a:solidFill>
                <a:latin typeface="맑은 고딕"/>
              </a:defRPr>
            </a:pPr>
            <a:r>
              <a:t>시장에 없는 제품을 만드는 것. 그것이 우리의 목표다.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029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맑은 고딕"/>
              </a:defRPr>
            </a:pPr>
            <a:r>
              <a:t>v0.1 Draft  |  2026-04-01  |  다음 단계: 상세 기계 설계 (CAD)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