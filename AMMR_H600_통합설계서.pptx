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8288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고하중 AMMR 통합 설계서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맑은 고딕"/>
              </a:defRPr>
            </a:pPr>
            <a:r>
              <a:t>High-Load Autonomous Mobile Manipulator Robot — Integrated Design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AMMR-H600  |  v0.1 Draft  |  2026-04-01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제임스 (James) + 미모 (Mimo)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914400"/>
            <a:ext cx="2286000" cy="50292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82880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맑은 고딕"/>
              </a:defRPr>
            </a:pPr>
            <a:r>
              <a:t>🤖</a:t>
            </a:r>
            <a:br/>
            <a:br/>
            <a:r>
              <a:t>양팔</a:t>
            </a:r>
            <a:br/>
            <a:r>
              <a:t>30kg+</a:t>
            </a:r>
            <a:br/>
            <a:r>
              <a:t>600kg AMR</a:t>
            </a:r>
            <a:br/>
            <a:r>
              <a:t>자율주행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제품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시장 분석 및 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타겟 요구사항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경쟁사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하위 시스템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소프트웨어 아키텍처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51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안전 및 규격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개발 로드맵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리스크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01  제품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AMMR-H600: 세계 최초 고하중 통합 AMMR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0E0"/>
                </a:solidFill>
                <a:latin typeface="맑은 고딕"/>
              </a:defRPr>
            </a:pPr>
            <a:r>
              <a:t>"양팔 + 고가반 + 고적재 AMR"을 하나의 통합 플랫폼으로</a:t>
            </a:r>
            <a:br/>
            <a:r>
              <a:t>→ 공간 효율 ↑, 재배치 자유도 ↑, 총비용 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246888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맑은 고딕"/>
              </a:defRPr>
            </a:pPr>
            <a:r>
              <a:t>🦾 양팔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좌우 독립/협동 작업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474720"/>
            <a:ext cx="246888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⚖️ 가반 30kg+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06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각 팔 30kg, 합산 60kg+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474720"/>
            <a:ext cx="246888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53"/>
                </a:solidFill>
                <a:latin typeface="맑은 고딕"/>
              </a:defRPr>
            </a:pPr>
            <a:r>
              <a:t>🚛 적재 600kg+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고하중 AMR 플랫폼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3474720"/>
            <a:ext cx="246888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600"/>
                </a:solidFill>
                <a:latin typeface="맑은 고딕"/>
              </a:defRPr>
            </a:pPr>
            <a:r>
              <a:t>🧭 자율주행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06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SLAM 기반, 인프라 무수정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★ "양팔 + 30kg+ + 600kg AMR 통합" — 시장에 존재하지 않는 제품 = 블루오션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02  시장 분석 및 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AMR 시장 성장 &amp; 블루오션 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📈 시장 트렌드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글로벌 AMR 시장: 2025년 ~$5.5B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2030년 $12B+ (CAGR ~17%)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모바일 매니퓰레이터: 초기 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71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스마트 팩토리 수요 급증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029200" cy="22860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🎯 타겟 고객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1차: 대형 제조 공장 (반도체/디스플레이/자동차)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기존 AGV + 고정 로봇 운영 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바닥면적 제약, 라인 변경 빈번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71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2차: 물류 허브 (대형 팔레트 처리)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10515600" cy="23774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🔍 블루오션 조합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양팔 매니퓰레이터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853"/>
                </a:solidFill>
                <a:latin typeface="맑은 고딕"/>
              </a:defRPr>
            </a:pPr>
            <a:r>
              <a:t>✅ 있음 (ABB YuMi, Kawasaki duAro)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93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30kg+ 가반 양팔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193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600"/>
                </a:solidFill>
                <a:latin typeface="맑은 고딕"/>
              </a:defRPr>
            </a:pPr>
            <a:r>
              <a:t>⚠️ 제한적 (단팔 30kg+는 다수)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6327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600kg+ AMR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6327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853"/>
                </a:solidFill>
                <a:latin typeface="맑은 고딕"/>
              </a:defRPr>
            </a:pPr>
            <a:r>
              <a:t>✅ 있음 (MiR600, OTTO 1500)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0716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양팔 + 30kg+ + 600kg AMR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0716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4545"/>
                </a:solidFill>
                <a:latin typeface="맑은 고딕"/>
              </a:defRPr>
            </a:pPr>
            <a:r>
              <a:t>❌ 시장에 없음 ← 우리 타겟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03  타겟 요구사항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핵심 성능 사양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AMR 적재능력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≥ 600kg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64592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팔 가반중량 (각)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≥ 30kg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8" y="164592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8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팔 작업반경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8" y="2057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t>≥ 1,500mm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자율주행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맑은 고딕"/>
              </a:defRPr>
            </a:pPr>
            <a:r>
              <a:t>SLAM 기반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283464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최대 이동속도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t>1.5 m/s (하중)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283464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8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위치 정밀도 (AMR)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3246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±10mm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위치 정밀도 (팔)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66666"/>
                </a:solidFill>
                <a:latin typeface="맑은 고딕"/>
              </a:defRPr>
            </a:pPr>
            <a:r>
              <a:t>±0.1mm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402336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배터리 수명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맑은 고딕"/>
              </a:defRPr>
            </a:pPr>
            <a:r>
              <a:t>≥ 6시간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8" y="402336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8" y="4114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급속 충전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8" y="4434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맑은 고딕"/>
              </a:defRPr>
            </a:pPr>
            <a:r>
              <a:t>80% in 30min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21208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303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등판각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23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t>≥ 5° (600kg)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59" y="521208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39" y="5303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급정지 거리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39" y="5623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  <a:latin typeface="맑은 고딕"/>
              </a:defRPr>
            </a:pPr>
            <a:r>
              <a:t>≤ 1m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598" y="5212080"/>
            <a:ext cx="347472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8" y="5303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통신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8" y="5623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Wi-Fi 6E + 5G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04  경쟁사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경쟁 매트릭스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업체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제품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AMR 적재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팔 가반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양팔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03120"/>
            <a:ext cx="9144000" cy="43891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MiR + 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1762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MC600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762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600kg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762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30kg (UR30)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762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❌ 단팔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762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반통합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560320"/>
            <a:ext cx="91440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6334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ROKAE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6334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CMR + CR35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633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500kg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633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45kg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❌ 별도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633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미통합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017520"/>
            <a:ext cx="9144000" cy="43891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0906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KUKA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0906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KMP 600P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090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600kg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090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30906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090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AMR만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474720"/>
            <a:ext cx="91440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5478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OTTO Motors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5478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OTTO 1500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5478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1500kg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5478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5478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5478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AMR만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3931920"/>
            <a:ext cx="9144000" cy="438912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0050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FANUC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40050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M-2000iA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0050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40050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900kg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0050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❌ 단팔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0050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팔만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389120"/>
            <a:ext cx="9144000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4622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Rainbow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44622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RB-Y1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4622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경량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4622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3kg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4622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53"/>
                </a:solidFill>
                <a:latin typeface="맑은 고딕"/>
              </a:defRPr>
            </a:pPr>
            <a:r>
              <a:t>✅ 양팔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4622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통합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846320"/>
            <a:ext cx="9144000" cy="502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AMMR-H600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우리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600kg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30kg+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✅ 양팔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✅ 완전통합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5577840"/>
            <a:ext cx="9144000" cy="10058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56692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⚠️ 최근접 경쟁자: ROKAE (珞石)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" y="5989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CR35 (45kg 가반) + CMR (500kg AMR) — 구성요소 보유, 통합 제품 미출시</a:t>
            </a:r>
            <a:br/>
            <a:r>
              <a:t>→ 600kg+ 자체 개발하면 확실한 차별화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05  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전체 시스템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맑은 고딕"/>
              </a:defRPr>
            </a:pPr>
            <a:r>
              <a:t>양팔 매니퓰레이터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Left Arm (30kg+ / 7DOF)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1518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Right Arm (30kg+ / 7DOF)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443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엔드 이펙터 (퀵체인지)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F/T 센서 (각 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027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비전 카메라 (팔 끝단)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자기충돌검지 시스템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1645920"/>
            <a:ext cx="347472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645920"/>
            <a:ext cx="34747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39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AMR 플랫폼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2860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4륜 독립구동 (Mecanum)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61518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BLDC 서보모터 ×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9443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LiFePO4 배터리 2.5kWh+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2735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적재능력 600kg+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6027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급속 충전 (도킹 자동)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39319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섀시: ~1200×800mm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598" y="1645920"/>
            <a:ext cx="3474720" cy="4114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598" y="1645920"/>
            <a:ext cx="3474720" cy="50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8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맑은 고딕"/>
              </a:defRPr>
            </a:pPr>
            <a:r>
              <a:t>통합 제어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8" y="22860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Motion Planner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261518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Task Scheduler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8" y="29443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Safety Manager (SIL2)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8" y="327355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Navigation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8" y="36027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Sensor 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8" y="39319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▸ Fleet Manager 연동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🔗 통신:  Wi-Fi 6E  |  5G (옵션)  |  EtherCAT (내부)  |  CAN (센서)  |  MQTT/gRPC (Fleet)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06  하위 시스템 — AMR 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구동 · 섀시 · 배터리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27432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🔧 구동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Mecanum 4륜 독립구동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BLDC 서보모터 × 500W+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하모닉 드라이브 감속기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712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총 추력 3kN+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272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최대 2.0m/s (공차)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최대 1.5m/s (600kg)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645920"/>
            <a:ext cx="3291840" cy="27432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🏗️ 섀시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강성 알루미늄 프레임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59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팔 마운트 통합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15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치수: ~1200×800×400mm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712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자중 목표: ≤ 250kg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272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등판각: ≥ 5° (600kg)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급정지: ≤ 1m (최대속도)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645920"/>
            <a:ext cx="3291840" cy="27432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🔋 배터리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LiFePO4 (안전성 우선)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59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용량 ≥ 2.5kWh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615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48V / 72V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8712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연속 운용 ≥ 6시간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1272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급속 충전: 80% in 30min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자동 도킹 충전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663440"/>
            <a:ext cx="10515600" cy="19202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📐 상면도 (Top View)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120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  <a:br/>
            <a:r>
              <a:t>│          ┌───────────────────┐               │</a:t>
            </a:r>
            <a:br/>
            <a:r>
              <a:t>│  ○ Front │  팔 마운트 영역    │  Rear ○       │</a:t>
            </a:r>
            <a:br/>
            <a:r>
              <a:t>│  Wheel   │  (강성 프레임)     │  Wheel        │</a:t>
            </a:r>
            <a:br/>
            <a:r>
              <a:t>│          │  ┌───┐   ┌───┐   │               │</a:t>
            </a:r>
            <a:br/>
            <a:r>
              <a:t>│          │  │ L │   │ R │   │               │</a:t>
            </a:r>
            <a:br/>
            <a:r>
              <a:t>│          │  │Arm│   │Arm│   │               │</a:t>
            </a:r>
            <a:br/>
            <a:r>
              <a:t>│          └──┴───┴───┴───┴───┘               │</a:t>
            </a:r>
            <a:br/>
            <a:r>
              <a:t>│  ○ Front │  배터리 + 제어기   │  Rear ○       │</a:t>
            </a:r>
            <a:br/>
            <a:r>
              <a:t>│  Wheel   │                   │  Wheel        │</a:t>
            </a:r>
            <a:br/>
            <a:r>
              <a:t>└─────────────────────────────────────────────┘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06  하위 시스템 — 양팔 매니퓰레이터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팔 사양 · 배치 · 엔드이펙터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32004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🦾 각 팔 사양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DOF: 6 + 1 (그리퍼) = 7축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가반중량: ≥ 30kg (최대)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연속 작업: 20kg (권장)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712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작업반경: ≥ 1,500mm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272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반복 정밀도: ±0.1mm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최대 솔도: 180°/s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393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구동: BLDC + 감속기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953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무게: 각 팔 ≤ 50kg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513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프로토콜: EtherCAT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645920"/>
            <a:ext cx="3291840" cy="32004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🤏 엔드 이펙터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기본: 2핀 전기 그리퍼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359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30kg 인양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615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옵션: 진공 그리퍼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8712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옵션: 3핀 서보 그리퍼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1272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퀵 체인지: ISO 9409-1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공구 자동 교체 지원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6393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Force/Torque 센서 내장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953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비전 카메라 (팔 끝단)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645920"/>
            <a:ext cx="3291840" cy="320040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🤝 양팔 협동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양팔 간격: ~600mm (기본)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359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양팔 교차 작업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61518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독립 동작 모드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8712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협동 동작 모드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1272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실시간 자기충돌검지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3832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충돌 방지 알고리즘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6393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Admittance 힘 제어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8953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작업 분담 자동 최적화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120640"/>
            <a:ext cx="10515600" cy="14630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12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📐 정면도 (Front View)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577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nsolas"/>
              </a:defRPr>
            </a:pPr>
            <a:r>
              <a:t>              ┌─────┐</a:t>
            </a:r>
            <a:br/>
            <a:r>
              <a:t>         ┌────┤     ├────┐</a:t>
            </a:r>
            <a:br/>
            <a:r>
              <a:t>         │ L  │ 상판 │  R │</a:t>
            </a:r>
            <a:br/>
            <a:r>
              <a:t>         │Arm │     │Arm │</a:t>
            </a:r>
            <a:br/>
            <a:r>
              <a:t>        ╱│    │     │    │╲</a:t>
            </a:r>
            <a:br/>
            <a:r>
              <a:t>       ╱ └────┘     └────┘ 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06  하위 시스템 — 센서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센서 융합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3500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맑은 고딕"/>
              </a:defRPr>
            </a:pPr>
            <a:r>
              <a:t>3D LiDAR ×1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SLAM, 3D 매핑, 장애물 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63500" cy="9144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2D Safety LiDAR ×2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전/후방 안전 영역 스캐닝 (SIL2)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21208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97480"/>
            <a:ext cx="63500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Depth Camera ×2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전/후방 3D 매핑, 피킹 유도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97480"/>
            <a:ext cx="521208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697480"/>
            <a:ext cx="63500" cy="914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6666"/>
                </a:solidFill>
                <a:latin typeface="맑은 고딕"/>
              </a:defRPr>
            </a:pPr>
            <a:r>
              <a:t>IMU ×1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관성 항법, 자세 추정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49040"/>
            <a:ext cx="521208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49040"/>
            <a:ext cx="63500" cy="914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853"/>
                </a:solidFill>
                <a:latin typeface="맑은 고딕"/>
              </a:defRPr>
            </a:pPr>
            <a:r>
              <a:t>비전 카메라 ×2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팔 끝단, 비전 유도 작업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749040"/>
            <a:ext cx="521208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749040"/>
            <a:ext cx="63500" cy="9144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600"/>
                </a:solidFill>
                <a:latin typeface="맑은 고딕"/>
              </a:defRPr>
            </a:pPr>
            <a:r>
              <a:t>F/T 센서 ×2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각 팔, 힘 제어 &amp; 충돌 검지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00600"/>
            <a:ext cx="521208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800600"/>
            <a:ext cx="63500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92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맑은 고딕"/>
              </a:defRPr>
            </a:pPr>
            <a:r>
              <a:t>UWB 안테나 ×4+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실내 정밀 위치 (±10mm)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800600"/>
            <a:ext cx="5212080" cy="9144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800600"/>
            <a:ext cx="63500" cy="914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892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66666"/>
                </a:solidFill>
                <a:latin typeface="맑은 고딕"/>
              </a:defRPr>
            </a:pPr>
            <a:r>
              <a:t>엔코더 (각 관절)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257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관절 위치 피드백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🔄 센서 융합:  LiDAR + Depth Camera + IMU → 확장 칼만 필터(EKF) → 통합 환경 인지도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07  소프트웨어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ROS 2 기반 소프트웨어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3500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응용 계층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2926080" y="1645920"/>
            <a:ext cx="850392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828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Task API  |  Mission Editor  |  Fleet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201168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63500" cy="685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미들웨어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2926080" y="2468880"/>
            <a:ext cx="850392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651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ROS 2 (Humble/Iron)  |  gRPC  |  MQTT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91840"/>
            <a:ext cx="201168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291840"/>
            <a:ext cx="63500" cy="685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맑은 고딕"/>
              </a:defRPr>
            </a:pPr>
            <a:r>
              <a:t>핵심 모듈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1" name="Rectangle 20"/>
          <p:cNvSpPr/>
          <p:nvPr/>
        </p:nvSpPr>
        <p:spPr>
          <a:xfrm>
            <a:off x="2926080" y="3291840"/>
            <a:ext cx="850392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3474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Navigation  |  Manipulation  |  Perception  |  Safety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14800"/>
            <a:ext cx="201168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63500" cy="685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맑은 고딕"/>
              </a:defRPr>
            </a:pPr>
            <a:r>
              <a:t>드라이버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2926080" y="4114800"/>
            <a:ext cx="850392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EtherCAT Master  |  CAN Driver  |  Sensor Drivers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937760"/>
            <a:ext cx="201168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937760"/>
            <a:ext cx="63500" cy="685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맑은 고딕"/>
              </a:defRPr>
            </a:pPr>
          </a:p>
        </p:txBody>
      </p:sp>
      <p:sp>
        <p:nvSpPr>
          <p:cNvPr id="33" name="Rectangle 32"/>
          <p:cNvSpPr/>
          <p:nvPr/>
        </p:nvSpPr>
        <p:spPr>
          <a:xfrm>
            <a:off x="2926080" y="4937760"/>
            <a:ext cx="8503920" cy="6858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5120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Ubuntu 22.04 + PREEMPT_RT  |  Safety PLC Firmware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주요 기술:  Cartographer (SLAM)  |  Nav2 (경로계획)  |  MoveIt 2 (Manipulation)  |  Gazebo/Isaac Sim (시뮬레이션)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08  안전 및 규격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안전 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210312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📋 적용 규격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ISO 3691-4:2023 — 무인 운반차 안전 (필수)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ISO 10218-1/2 — 산업 로봇 안전 (필수)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ISO/TS 15066 — 협동 로봇 안전 (필수)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71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ISO 13849-1 — 안전 제어 PLd 이상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27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ANSI R15.08 — 산업용 모바일 로봇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5029200" cy="2103120"/>
          </a:xfrm>
          <a:prstGeom prst="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맑은 고딕"/>
              </a:defRPr>
            </a:pPr>
            <a:r>
              <a:t>🛡️ 안전 아키텍처 (2채널)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Main Control (표준 채널) + Safety PLC (안전 채널)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SIL2 / PLd 등급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E-Stop: 하드웨어 + 소프트웨어 이중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71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Safe Torque Off (STO)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27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맑은 고딕"/>
              </a:defRPr>
            </a:pPr>
            <a:r>
              <a:t>• 독립 안전 검증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10515600" cy="25603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맑은 고딕"/>
              </a:defRPr>
            </a:pPr>
            <a:r>
              <a:t>🚧 안전 존 (Safety Zones)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4572000"/>
            <a:ext cx="22860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STOP ZONE (&lt; 0.5m)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663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→ 즉시 정지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5166360"/>
            <a:ext cx="2286000" cy="4572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SLOW ZONE (&lt; 2m)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257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→ 0.5m/s 이하 감속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760720"/>
            <a:ext cx="228600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852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WARNING ZONE (&lt; 5m)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852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맑은 고딕"/>
              </a:defRPr>
            </a:pPr>
            <a:r>
              <a:t>→ 경고 + 점진 감속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맑은 고딕"/>
              </a:defRPr>
            </a:pPr>
            <a:r>
              <a:t>✅ 비상 정지 거리: 최대속도(1.5m/s)에서 ≤ 1m  |  ISO 3691-4 준수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09  개발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6개월 프로토타입 개발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맑은 고딕"/>
              </a:defRPr>
            </a:pPr>
            <a:r>
              <a:t>✅ 선행 확보 사항 (기존 24개월 → 6개월 압축)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2120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맑은 고딕"/>
              </a:defRPr>
            </a:pPr>
            <a:r>
              <a:t>✅ 자체 제어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SW 개발 기간 대폭 단축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2120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맑은 고딕"/>
              </a:defRPr>
            </a:pPr>
            <a:r>
              <a:t>✅ 자율주행 플랫폼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Navigation Stack 재활용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52120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맑은 고딕"/>
              </a:defRPr>
            </a:pPr>
            <a:r>
              <a:t>✅ 선행 모델 개발 경험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기계/전기 설계 검증 완료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651760"/>
            <a:ext cx="5212080" cy="54864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맑은 고딕"/>
              </a:defRPr>
            </a:pPr>
            <a:r>
              <a:t>✅ AMR 기본 구동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프레임/구동 재설계 최소화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📅 6개월 타임라인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8461" y="3931920"/>
            <a:ext cx="1160584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04181" y="3950208"/>
            <a:ext cx="1069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5323" y="3931920"/>
            <a:ext cx="2321169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1043" y="3950208"/>
            <a:ext cx="22297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19046" y="3931920"/>
            <a:ext cx="4642338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4766" y="3950208"/>
            <a:ext cx="45508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13938" y="3931920"/>
            <a:ext cx="3868615" cy="32004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9658" y="3950208"/>
            <a:ext cx="37771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08830" y="3931920"/>
            <a:ext cx="2321169" cy="32004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4550" y="3950208"/>
            <a:ext cx="222972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2976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/>
              </a:defRPr>
            </a:pPr>
            <a:r>
              <a:t>W1          W4          W8          W12         W16         W20         W26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📋 단계별 주요 작업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맑은 고딕"/>
              </a:defRPr>
            </a:pPr>
            <a:r>
              <a:t>P1 설계+소싱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029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양팔 마운트 설계, 섀시 보강, 부품 발주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76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P2 HW통합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3766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AMR 보강, 양팔 마운트, 센서/BMS 장착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24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맑은 고딕"/>
              </a:defRPr>
            </a:pPr>
            <a:r>
              <a:t>P3 SW통합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7241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양팔 드라이버, MoveIt 2, 협동작업, Fleet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071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600"/>
                </a:solidFill>
                <a:latin typeface="맑은 고딕"/>
              </a:defRPr>
            </a:pPr>
            <a:r>
              <a:t>P4 테스트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607161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성능/안전/통합/하중 검증, 파일럿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419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P5 데모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641908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데모 제작, 인증 준비, 고객 피드백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핵심: 양팔 COTS(기성품) 선택 → 납기 4~6주  |  SW는 기존 플랫폼 재활용  |  HW/SW 병렬 진행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맑은 고딕"/>
              </a:defRPr>
            </a:pPr>
            <a:r>
              <a:t>10  리스크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맑은 고딕"/>
              </a:defRPr>
            </a:pPr>
            <a:r>
              <a:t>리스크 매트릭스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515600" cy="41148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확률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영향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6916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대응 방안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105156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600kg 하중 안전성 미달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194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Safety PLC 2채널, 조기 안전 테스트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33472"/>
            <a:ext cx="105156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24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양팔 충돌/간섭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24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7249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실시간 자기충돌검지, 시뮬레이션 선행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63824"/>
            <a:ext cx="105156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55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배터리 수명 부족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2552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2552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25526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LiFePO4, 급속 충전, 배터리 스왑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94176"/>
            <a:ext cx="105156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856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AMR 정밀도 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7856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53"/>
                </a:solidFill>
                <a:latin typeface="맑은 고딕"/>
              </a:defRPr>
            </a:pPr>
            <a:r>
              <a:t>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7856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78561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UWB + LiDAR 이중 위치 추정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224528"/>
            <a:ext cx="105156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315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핵심 부품 수급 불안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315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315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31596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이중 소싱, 대체 부품 선정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105156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안전 인증 지연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846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846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846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인증 컨설턴트 조기 투입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285232"/>
            <a:ext cx="10515600" cy="50292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376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ROKAE 선제 진입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5376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853"/>
                </a:solidFill>
                <a:latin typeface="맑은 고딕"/>
              </a:defRPr>
            </a:pPr>
            <a:r>
              <a:t>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376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37667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개발 속도 확보, 특허 선점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815584"/>
            <a:ext cx="105156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9070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SW 안정성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59070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59070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600"/>
                </a:solidFill>
                <a:latin typeface="맑은 고딕"/>
              </a:defRPr>
            </a:pPr>
            <a:r>
              <a:t>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59070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맑은 고딕"/>
              </a:defRPr>
            </a:pPr>
            <a:r>
              <a:t>CI/CD, HIL 시뮬레이션, 지속적 테스트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8288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AMMR-H600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D6"/>
                </a:solidFill>
                <a:latin typeface="맑은 고딕"/>
              </a:defRPr>
            </a:pPr>
            <a:r>
              <a:t>양팔 + 30kg+ + 600kg AMR + 자율주행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맑은 고딕"/>
              </a:defRPr>
            </a:pPr>
            <a:r>
              <a:t>시장에 없는 제품을 만드는 것. 그것이 우리의 목표다.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v0.2 Draft  |  2026-04-01  |  6개월 프로토타입 개발 목표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