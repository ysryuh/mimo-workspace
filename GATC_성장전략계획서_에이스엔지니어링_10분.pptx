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36576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CCEE"/>
                </a:solidFill>
                <a:latin typeface="맑은 고딕"/>
              </a:defRPr>
            </a:pPr>
            <a:r>
              <a:t>글로벌우수기업연구소 육성사업 (GATC)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기업부설연구소 성장전략계획서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DDEE"/>
                </a:solidFill>
                <a:latin typeface="맑은 고딕"/>
              </a:defRPr>
            </a:pPr>
            <a:r>
              <a:t>글로벌에너지·전력인프라의 표준이 되는</a:t>
            </a:r>
            <a:br/>
            <a:r>
              <a:t>Modular Containerized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주관연구개발기관  ㈜에이스엔지니어링  |  중앙기술연구소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연구소장  주재흥 이사  |  사업기간  2026 ~ 2029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EB8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기업 개요 및 R&amp;D 역량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사업화능력, 연구인력, 핵심기술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EB8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148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글로벌 성장 로드맵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514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비전, 5단계 성장전략, 핵심활동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EB8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R&amp;D 투자·인력·인프라 계획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566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재원조달, 글로벌인력, 장비구축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2519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EB8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2519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협력 네트워크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61771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국내외 R&amp;D·비즈니스 네트워크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303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EB8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부합성·경영진 의지·핵심요약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669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기업-연구소 부합, 성장 KPI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73152" cy="4572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B5C"/>
                </a:solidFill>
                <a:latin typeface="맑은 고딕"/>
              </a:defRPr>
            </a:pPr>
            <a:r>
              <a:t>01  기업 개요 &amp; 재무현황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A. 사업화능력 — 매출 실적 (15점) + R&amp;D 투자 (10점)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30352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30352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기업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설립: 1981년 (컨테이너산업 45년 역사)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사업: ESS Containerized Solution (Top-tier)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매출: 2024년 6,340억원 (연평균 64% 성장)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종업원: 111명 (연평균 24% 성장)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글로벌: 30개국 이상 제품 공급 경험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주요 거래처: Fluence(65%), 효성중공업(34%)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미국·베트남 법인 운영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핵심 인증: ISO 9001/14001/45001/27001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· KR·LRQA · 한국선급 · IMO · ABS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53035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530352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재무 현황 (2022~2024)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매출액: 2,354억 → 2,959억 → 6,340억 (연평균 64%)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총자산: 425억 → 1,930억 → 3,532억 (연평균 22%)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영업이익률: 6% → 8% → 8%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2025년 매출 목표: 4,500억원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206240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206240"/>
            <a:ext cx="530352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51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R&amp;D 투자 (A항목 충족)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548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기존 연 5억 → 연 10억원 수준으로 확대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자체조달 50% / 국가R&amp;D 20% / 수요처지원 20%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주주증자 550억 확보 (2025년)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데이터센터·스키드·GFM인버터 우선투자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매출 무관 R&amp;D 연 5억+ 하한선 유지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73152" cy="4572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B5C"/>
                </a:solidFill>
                <a:latin typeface="맑은 고딕"/>
              </a:defRPr>
            </a:pPr>
            <a:r>
              <a:t>01  연구소 역량 &amp; 인력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B. 연구인력 구성 — 연구인력 (10점) + 연구소장 자격 (5점)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30352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30352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중앙기술연구소 조직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연구소장: 주재흥 이사 (구조설계 총괄, 17년 경력)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연구인력: 9명 (석사 2명, 학사 7명)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총 인력규모: 중앙기술연구소 전체 23명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전문분야: 구조설계·전기설계·구조해석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평균연구경력: 10년 이상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핵심 인력: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  조용래 차장 — 전기설계 전문 (26년 경력)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  양수석 차장 — 전기설계 전문 (26년 경력)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  장희수 차장 — 전기설계 (14년 경력)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  마상진 과장 — 구조설계 (13년 경력)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  성동근 과장 — Materials Science (석사, 독일 Bochum)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53035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530352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지식재산권 &amp; 인증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특허등록: 11건 / 특허출원: 2건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해외특허 (미국·중국·PCT): 3건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ISO 9001/14001/45001/27001 인증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한국선급·LRQA·IMO·ABS 인증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206240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206240"/>
            <a:ext cx="530352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51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지식재산 전담 체계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548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전략TF장: 이호용 상무 (前 한화큐셀 특허전략 경험)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사내연구소: IP 대상 아이템 R&amp;D 수행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사내공모전 기반 신규 아이템 발굴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파이특허법률사무소: 선행특허 조사·출원 (10년+ 협업)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73152" cy="4572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B5C"/>
                </a:solidFill>
                <a:latin typeface="맑은 고딕"/>
              </a:defRPr>
            </a:pPr>
            <a:r>
              <a:t>01  핵심기술 &amp; 기술사업화 성과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E. 수상실적 — 특허·인증·연구과제 수행실적 (25점)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694944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694944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기술사업화 대표 실적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6583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Powin Centipede (2021~) — 누적 3,500억원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Fluence Gen6 Cube (2020~2025) — 누적매출 9,000억원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Fluence GSP 2000 — 누적 150억 + 수주잔고 700억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Fluence GSP 5000 — 누적 1,200억 + 수주잔고 3,000억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Fluence Smartstack — 누적 50억 + 수주잔고 300억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국가연구개발사업 수행실적: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ESS 설치공간 화재예방·차단 시스템개발 ('21~'25)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MWh급 선박용 고안전성 LiB-ESS 통합시스템 국산화 ('21~'23)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야전병원 ICT융합 플랫폼 디자인개발 ('21~'25)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Strengths: 글로벌 Top-tier 수요처와 긴밀한 협력관계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Challenges: 글로벌 다변화 필요, IP 확보 및 R&amp;D 역량 제고 필수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011680"/>
            <a:ext cx="365760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2011680"/>
            <a:ext cx="365760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057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핵심 역량 요약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5603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국내 최초 ISO 컨테이너 개발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아시아 최초 A60 Cabin 개발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국내 최초 해외 ESS 공급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30개국 이상 글로벌 공급 경험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특허 13건 (등록 11 + 출원 2)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해외특허 3건 (미국·중국·PCT)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국가R&amp;D 3건 수행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⚠ 위기대응 경험: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2024년 고객사 파산 (1억달러 손실)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→ R&amp;D 투자 5억→10억 확대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→ 주주증자 550억 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73152" cy="4572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B5C"/>
                </a:solidFill>
                <a:latin typeface="맑은 고딕"/>
              </a:defRPr>
            </a:pPr>
            <a:r>
              <a:t>02  연구소 비전 &amp; 글로벌 성장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C. 연구소 성장전략 — 글로벌화 전략 (15점) + R&amp;D 성장전략 (10점)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6400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VISION: "글로벌에너지와 전력인프라의 표준이 되는 Modular Containerized Solution"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2103120" cy="4572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9443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~2026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B5C"/>
                </a:solidFill>
                <a:latin typeface="맑은 고딕"/>
              </a:defRPr>
            </a:pPr>
            <a:r>
              <a:t>ESS Value Chain</a:t>
            </a:r>
            <a:br/>
            <a:r>
              <a:t>내 기술다각화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• Data Center</a:t>
            </a:r>
            <a:br/>
            <a:r>
              <a:t>• Grid-forming 인버터</a:t>
            </a:r>
            <a:br/>
            <a:r>
              <a:t>• SKID 솔루션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926080"/>
            <a:ext cx="2103120" cy="4572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9443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5204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B5C"/>
                </a:solidFill>
                <a:latin typeface="맑은 고딕"/>
              </a:defRPr>
            </a:pPr>
            <a:r>
              <a:t>전력기기용</a:t>
            </a:r>
            <a:br/>
            <a:r>
              <a:t>컨테이너 솔루션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297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• 전력기기 통합</a:t>
            </a:r>
            <a:br/>
            <a:r>
              <a:t>• Grid-forming 양산</a:t>
            </a:r>
            <a:br/>
            <a:r>
              <a:t>• SKID 상용화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926080"/>
            <a:ext cx="2103120" cy="4572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9443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2028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5204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B5C"/>
                </a:solidFill>
                <a:latin typeface="맑은 고딕"/>
              </a:defRPr>
            </a:pPr>
            <a:r>
              <a:t>H/W Total Solution</a:t>
            </a:r>
            <a:br/>
            <a:r>
              <a:t>(Plug &amp; Play)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297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• SKID Solution 통합</a:t>
            </a:r>
            <a:br/>
            <a:r>
              <a:t>• 전력변환/냉각 통합</a:t>
            </a:r>
            <a:br/>
            <a:r>
              <a:t>• Plug &amp; Play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926080"/>
            <a:ext cx="2103120" cy="4572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9443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2029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35204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B5C"/>
                </a:solidFill>
                <a:latin typeface="맑은 고딕"/>
              </a:defRPr>
            </a:pPr>
            <a:r>
              <a:t>응용분야 확대를</a:t>
            </a:r>
            <a:br/>
            <a:r>
              <a:t>통한 사업다각화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4297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• 데이터센터·선박</a:t>
            </a:r>
            <a:br/>
            <a:r>
              <a:t>• 마이크로그리드</a:t>
            </a:r>
            <a:br/>
            <a:r>
              <a:t>• 수소연료전지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2926080"/>
            <a:ext cx="2103120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9443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2030+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5204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B5C"/>
                </a:solidFill>
                <a:latin typeface="맑은 고딕"/>
              </a:defRPr>
            </a:pPr>
            <a:r>
              <a:t>서비스화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4297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• O&amp;M 서비스</a:t>
            </a:r>
            <a:br/>
            <a:r>
              <a:t>• 에너지 트레이딩</a:t>
            </a:r>
            <a:br/>
            <a:r>
              <a:t>• 플랫폼 비즈니스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2B5C"/>
                </a:solidFill>
                <a:latin typeface="맑은 고딕"/>
              </a:defRPr>
            </a:pPr>
            <a:r>
              <a:t>GATC 과제 = 성장로드맵 2~3단계 가속화 + 4~5단계 도약의 핵심 전환기술 확보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73152" cy="4572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B5C"/>
                </a:solidFill>
                <a:latin typeface="맑은 고딕"/>
              </a:defRPr>
            </a:pPr>
            <a:r>
              <a:t>02  글로벌 목표시장 &amp; 진출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글로벌 다변화 — 특정 수요처 의존도 탈피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4747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474720" cy="4572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미국 시장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Fluence Energy — 글로벌 ESS 1위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PFE/FEOC 공급망 리스크 없는 점 강조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IRA Domestic Contents 인증 대응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현지 법인 운영으로 대응 역량 확보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2011680"/>
            <a:ext cx="34747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2011680"/>
            <a:ext cx="347472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057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유럽 시장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5603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Hitachi 유럽 — 유럽시장 선도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친환경·Cybersecurity 강조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CE 인증 대응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LOI: Hitachi, PTC Solar, NexGen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2011680"/>
            <a:ext cx="34747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2011680"/>
            <a:ext cx="3474720" cy="4572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2057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아시아·기타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5603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호주, 남미, 동남아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재생에너지 확대 빠른 시장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현지 파트너십 구축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베트남 법인 운영 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현지화 전략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시장별 규제 DB 구축  • 인증 전담팀 구성  • 설계단계 국제표준 반영  • 현지 규제전문가 네트워크 구축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주 1~2회 정기 화상회의  • 1~2개월 1회 베트남·한국 대면미팅  • 분기/반기별 미국 본사 대면미팅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73152" cy="4572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B5C"/>
                </a:solidFill>
                <a:latin typeface="맑은 고딕"/>
              </a:defRPr>
            </a:pPr>
            <a:r>
              <a:t>02  핵심활동 세부전략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글로벌 연구협력·인력파견·세미나·마케팅 연계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글로벌 연구협력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탐색→공동연구→전략협력 3단계 운영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공동과제 3건/년 목표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포트폴리오+표준계약+성과관리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548640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기술인력 해외파견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복지/견학이 아닌 성과중심 기술이전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공동목표-공동거버넌스-공동KPI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핵심인력 5명/년 파견 목표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8912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89120"/>
            <a:ext cx="5486400" cy="4572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해외전문가 초청세미나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행사가 아닌 리드 생성 엔진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Scoping Call→과제후보→NDA→공동연구 SOW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연 4~12회, 리드전환율 20~40%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38912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389120"/>
            <a:ext cx="548640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4348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글로벌 마케팅 연계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377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연구소 성과를 마케팅 자료로 즉각 활용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기술백서·Webinar·Podcast 발간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RE+·Smarter E Europe 합동 참가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73152" cy="4572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B5C"/>
                </a:solidFill>
                <a:latin typeface="맑은 고딕"/>
              </a:defRPr>
            </a:pPr>
            <a:r>
              <a:t>03  R&amp;D 투자·인력·인프라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D. 투자타당성 및 고용창출 — R&amp;D 인력 (5점) + 글로벌 인력 (5점)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560320" cy="43891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지표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011680"/>
            <a:ext cx="1463040" cy="43891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0574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011680"/>
            <a:ext cx="1463040" cy="43891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011680"/>
            <a:ext cx="1463040" cy="43891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0574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0" y="2011680"/>
            <a:ext cx="1463040" cy="43891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20574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2029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2011680"/>
            <a:ext cx="1463040" cy="43891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20574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87168"/>
            <a:ext cx="2560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5328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R&amp;D 매출증가율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2487168"/>
            <a:ext cx="1463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25328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487168"/>
            <a:ext cx="1463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25328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487168"/>
            <a:ext cx="1463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5328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275%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2487168"/>
            <a:ext cx="1463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25328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409%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487168"/>
            <a:ext cx="1463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25328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334%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962656"/>
            <a:ext cx="256032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0083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신규판로개척(건)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2962656"/>
            <a:ext cx="14630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300837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962656"/>
            <a:ext cx="14630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300837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962656"/>
            <a:ext cx="14630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300837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0" y="2962656"/>
            <a:ext cx="14630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0" y="300837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2962656"/>
            <a:ext cx="14630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300837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438144"/>
            <a:ext cx="2560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4838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글로벌협력실전(건)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08960" y="3438144"/>
            <a:ext cx="1463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08960" y="348386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3438144"/>
            <a:ext cx="1463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348386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3438144"/>
            <a:ext cx="1463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0" y="348386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80" y="3438144"/>
            <a:ext cx="1463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0" y="348386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3438144"/>
            <a:ext cx="1463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20" y="348386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3913632"/>
            <a:ext cx="256032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39593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R&amp;D 연구인력(명)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08960" y="3913632"/>
            <a:ext cx="14630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0" y="39593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0" y="3913632"/>
            <a:ext cx="14630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0" y="39593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15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35040" y="3913632"/>
            <a:ext cx="14630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5040" y="39593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18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98080" y="3913632"/>
            <a:ext cx="14630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98080" y="39593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21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61120" y="3913632"/>
            <a:ext cx="14630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61120" y="39593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25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389120"/>
            <a:ext cx="2560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4434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중앙연구소인원(명)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08960" y="4389120"/>
            <a:ext cx="1463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08960" y="44348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25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0" y="4389120"/>
            <a:ext cx="1463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0" y="44348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28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35040" y="4389120"/>
            <a:ext cx="1463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35040" y="44348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31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98080" y="4389120"/>
            <a:ext cx="1463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98080" y="44348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34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61120" y="4389120"/>
            <a:ext cx="1463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61120" y="44348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38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4864608"/>
            <a:ext cx="256032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49103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특허출원(건)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108960" y="4864608"/>
            <a:ext cx="14630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108960" y="49103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0" y="4864608"/>
            <a:ext cx="14630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0" y="49103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35040" y="4864608"/>
            <a:ext cx="14630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35040" y="49103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98080" y="4864608"/>
            <a:ext cx="14630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98080" y="49103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61120" y="4864608"/>
            <a:ext cx="1463040" cy="43891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61120" y="49103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2B5C"/>
                </a:solidFill>
                <a:latin typeface="맑은 고딕"/>
              </a:defRPr>
            </a:pPr>
            <a:r>
              <a:t>연평균 성장률: R&amp;D 매출 49.5%  |  신규판로 71.0%  |  글로벌협력 62.7%  |  연구인력 20.1%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글로벌 인력확보 전략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1520" y="6400800"/>
            <a:ext cx="106984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글로벌 유수 전력기기업체 연구소 출신 인재 영입  • 박사급 전문인력 선제채용  • 부산산학협력센터 인턴→채용 연계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73152" cy="4572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B5C"/>
                </a:solidFill>
                <a:latin typeface="맑은 고딕"/>
              </a:defRPr>
            </a:pPr>
            <a:r>
              <a:t>04  국내외 협력 네트워크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R&amp;D 자문·시험평가·공동연구·실증 협력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30352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30352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국내 네트워크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R&amp;D 자문·시험평가: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  한국전기연구원 — ESS·GFM 시험평가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  한국생산기술연구원 — 제조기술 자문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  한국스마트그리드협회 — 신재생전력망 자문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산학협력: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  서울대학교 — GFM 핵심기술 중장기연구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  성균관대학교 — 전력시스템 연구협력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  동아대학교 — 인재육성·산학협력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530352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530352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해외 네트워크 &amp; 수요처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공동연구·실증: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  EPC Power — GFM 인버터 공동개발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  Fluence — 글로벌 실증·사업화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  CEC — 시험평가·인증 협업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수요처 네트워크: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  System Integrator: Fluence, Energy Vault, Qcells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  전력기기업체: ABB, Hitachi, On Energy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  시공/EPC: McCarthy, DPR, NexGen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LOI 체결: Hitachi, Fluence, PTC Solar, NexGen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73152" cy="4572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B5C"/>
                </a:solidFill>
                <a:latin typeface="맑은 고딕"/>
              </a:defRPr>
            </a:pPr>
            <a:r>
              <a:t>05  기업-연구소 부합성 &amp; 경영진 의지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연구소가 지원조직이 아닌 성장 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47472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시장 다변화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ESS 컨테이너 편중 → 데이터센터·선박·마이크로그리드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특정 수요처 의존도 탈피 → 다변화된 파이프라인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01168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347472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057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고객 종속 리스크 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560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Fluence 의존도 → 유럽/아시아 신규 고객 확보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IP 포트폴리오 강화로 기술 자립성 확보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01168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011680"/>
            <a:ext cx="347472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057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글로벌 경쟁력 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60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"연구소의 성장이 곧 기업의 성장"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연구소 성과를 마케팅·영업에 즉각 활용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97680"/>
            <a:ext cx="1106424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경영진 연구소 육성 의지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✓ 매출 무관 R&amp;D 연 5억+ 하한선 유지                              ✓ 데이터센터·스키드·GFM인버터 우선투자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✓ 부산산학협력센터 운영투자                                       ✓ Gate 운영: 아이템→PoC→검증→제품화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✓ 표준화·모듈화·문서화 → 플랫폼 자산화                         ✓ 핵심인력 선제채용 (전력변환·열관리·인증)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✓ 인턴→채용 파이프라인, 리텐션 강화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연구소 3년내 플랫폼 승격  |  IP 생산기지  |  글로벌 게이트키퍼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2B5C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66160" cy="4572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01  연구소 역량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45년 컨테이너 역사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글로벌 1위 ESS 공급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13건 특허 · 인증체계 완비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기술사업화 누적 1조+ 매출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56616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02  성장 계획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5단계 글로벌 성장로드맵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R&amp;D 투자 2배 확대 (5억→10억)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25명 전문인력 확보 목표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연도별 KPI 체계 수립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64592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645920"/>
            <a:ext cx="3566160" cy="4572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91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03  GATC = 핵심 전환점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기업전략과 완벽 부합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경영진 R&amp;D 의지 확고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성장로드맵 2~3단계 가속화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맑은 고딕"/>
              </a:defRPr>
            </a:pPr>
            <a:r>
              <a:t>전력기기 통합 플랫폼 도약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303520"/>
            <a:ext cx="12191695" cy="36576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2B5C"/>
                </a:solidFill>
                <a:latin typeface="맑은 고딕"/>
              </a:defRPr>
            </a:pPr>
            <a:r>
              <a:t>경청해 주셔서 감사합니다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